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6"/>
  </p:notesMasterIdLst>
  <p:sldIdLst>
    <p:sldId id="1234" r:id="rId2"/>
    <p:sldId id="1221" r:id="rId3"/>
    <p:sldId id="1222" r:id="rId4"/>
    <p:sldId id="1247" r:id="rId5"/>
    <p:sldId id="1251" r:id="rId6"/>
    <p:sldId id="1252" r:id="rId7"/>
    <p:sldId id="292" r:id="rId8"/>
    <p:sldId id="1253" r:id="rId9"/>
    <p:sldId id="1254" r:id="rId10"/>
    <p:sldId id="1255" r:id="rId11"/>
    <p:sldId id="1256" r:id="rId12"/>
    <p:sldId id="1257" r:id="rId13"/>
    <p:sldId id="1258" r:id="rId14"/>
    <p:sldId id="1259" r:id="rId15"/>
    <p:sldId id="1260" r:id="rId16"/>
    <p:sldId id="1261" r:id="rId17"/>
    <p:sldId id="1262" r:id="rId18"/>
    <p:sldId id="1263" r:id="rId19"/>
    <p:sldId id="1264" r:id="rId20"/>
    <p:sldId id="1266" r:id="rId21"/>
    <p:sldId id="1268" r:id="rId22"/>
    <p:sldId id="1267" r:id="rId23"/>
    <p:sldId id="1231" r:id="rId24"/>
    <p:sldId id="123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317F11-1656-4F93-B446-E73642D6611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194273C-4442-4779-B263-1DF17BD3D926}">
      <dgm:prSet/>
      <dgm:spPr/>
      <dgm:t>
        <a:bodyPr/>
        <a:lstStyle/>
        <a:p>
          <a:pPr>
            <a:lnSpc>
              <a:spcPct val="100000"/>
            </a:lnSpc>
          </a:pPr>
          <a:r>
            <a:rPr lang="en-US" b="1" dirty="0"/>
            <a:t>Date – 31st Jan 2024</a:t>
          </a:r>
          <a:endParaRPr lang="en-US" dirty="0"/>
        </a:p>
      </dgm:t>
    </dgm:pt>
    <dgm:pt modelId="{7689954E-4E50-4457-B62D-AC51DBD09677}" type="parTrans" cxnId="{D3310ECC-A254-4CB4-B100-358D4B0A0EA6}">
      <dgm:prSet/>
      <dgm:spPr/>
      <dgm:t>
        <a:bodyPr/>
        <a:lstStyle/>
        <a:p>
          <a:endParaRPr lang="en-US"/>
        </a:p>
      </dgm:t>
    </dgm:pt>
    <dgm:pt modelId="{49670928-CCF7-4F84-AE0A-03D3EAEB1AF2}" type="sibTrans" cxnId="{D3310ECC-A254-4CB4-B100-358D4B0A0EA6}">
      <dgm:prSet/>
      <dgm:spPr/>
      <dgm:t>
        <a:bodyPr/>
        <a:lstStyle/>
        <a:p>
          <a:endParaRPr lang="en-US"/>
        </a:p>
      </dgm:t>
    </dgm:pt>
    <dgm:pt modelId="{C775C65E-B25B-4EDA-A884-5630975B65AD}">
      <dgm:prSet/>
      <dgm:spPr/>
      <dgm:t>
        <a:bodyPr/>
        <a:lstStyle/>
        <a:p>
          <a:pPr>
            <a:lnSpc>
              <a:spcPct val="100000"/>
            </a:lnSpc>
          </a:pPr>
          <a:r>
            <a:rPr lang="en-US" b="1" dirty="0"/>
            <a:t>Trainer – Niranjan Dive</a:t>
          </a:r>
          <a:endParaRPr lang="en-US" dirty="0"/>
        </a:p>
      </dgm:t>
    </dgm:pt>
    <dgm:pt modelId="{662B43C6-DF22-48A8-A15F-C86C4A54CE92}" type="parTrans" cxnId="{64357505-7B1A-46D3-954B-6CEA3C6963ED}">
      <dgm:prSet/>
      <dgm:spPr/>
      <dgm:t>
        <a:bodyPr/>
        <a:lstStyle/>
        <a:p>
          <a:endParaRPr lang="en-US"/>
        </a:p>
      </dgm:t>
    </dgm:pt>
    <dgm:pt modelId="{3C1DC5D9-823C-49E5-9060-32DED79E5A7A}" type="sibTrans" cxnId="{64357505-7B1A-46D3-954B-6CEA3C6963ED}">
      <dgm:prSet/>
      <dgm:spPr/>
      <dgm:t>
        <a:bodyPr/>
        <a:lstStyle/>
        <a:p>
          <a:endParaRPr lang="en-US"/>
        </a:p>
      </dgm:t>
    </dgm:pt>
    <dgm:pt modelId="{F21E6665-5B0B-4640-B37C-9CF620283681}" type="pres">
      <dgm:prSet presAssocID="{FC317F11-1656-4F93-B446-E73642D66116}" presName="root" presStyleCnt="0">
        <dgm:presLayoutVars>
          <dgm:dir/>
          <dgm:resizeHandles val="exact"/>
        </dgm:presLayoutVars>
      </dgm:prSet>
      <dgm:spPr/>
    </dgm:pt>
    <dgm:pt modelId="{E99CE114-F147-4F3F-8091-4592DF4415F5}" type="pres">
      <dgm:prSet presAssocID="{D194273C-4442-4779-B263-1DF17BD3D926}" presName="compNode" presStyleCnt="0"/>
      <dgm:spPr/>
    </dgm:pt>
    <dgm:pt modelId="{1A74CE16-6130-48D2-B609-29D57CF97EB4}" type="pres">
      <dgm:prSet presAssocID="{D194273C-4442-4779-B263-1DF17BD3D92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ip Calendar"/>
        </a:ext>
      </dgm:extLst>
    </dgm:pt>
    <dgm:pt modelId="{1EEF940E-2B41-48E4-B728-C30BD8DCEA6E}" type="pres">
      <dgm:prSet presAssocID="{D194273C-4442-4779-B263-1DF17BD3D926}" presName="spaceRect" presStyleCnt="0"/>
      <dgm:spPr/>
    </dgm:pt>
    <dgm:pt modelId="{AD7A4639-5D26-47E6-A3B3-3A5EE6997AA2}" type="pres">
      <dgm:prSet presAssocID="{D194273C-4442-4779-B263-1DF17BD3D926}" presName="textRect" presStyleLbl="revTx" presStyleIdx="0" presStyleCnt="2">
        <dgm:presLayoutVars>
          <dgm:chMax val="1"/>
          <dgm:chPref val="1"/>
        </dgm:presLayoutVars>
      </dgm:prSet>
      <dgm:spPr/>
    </dgm:pt>
    <dgm:pt modelId="{7B3F1BCD-183E-4EFB-993F-077A063A082F}" type="pres">
      <dgm:prSet presAssocID="{49670928-CCF7-4F84-AE0A-03D3EAEB1AF2}" presName="sibTrans" presStyleCnt="0"/>
      <dgm:spPr/>
    </dgm:pt>
    <dgm:pt modelId="{94DD0B99-B709-4C35-9D23-9E9D670D79AB}" type="pres">
      <dgm:prSet presAssocID="{C775C65E-B25B-4EDA-A884-5630975B65AD}" presName="compNode" presStyleCnt="0"/>
      <dgm:spPr/>
    </dgm:pt>
    <dgm:pt modelId="{A3C2553A-C0B6-44F2-95DB-6B379C1484E7}" type="pres">
      <dgm:prSet presAssocID="{C775C65E-B25B-4EDA-A884-5630975B65A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icrophone"/>
        </a:ext>
      </dgm:extLst>
    </dgm:pt>
    <dgm:pt modelId="{1A053FB5-2316-4206-8249-ED11C3E69F1F}" type="pres">
      <dgm:prSet presAssocID="{C775C65E-B25B-4EDA-A884-5630975B65AD}" presName="spaceRect" presStyleCnt="0"/>
      <dgm:spPr/>
    </dgm:pt>
    <dgm:pt modelId="{5313F69A-91A6-498C-B552-7D57453FD36D}" type="pres">
      <dgm:prSet presAssocID="{C775C65E-B25B-4EDA-A884-5630975B65AD}" presName="textRect" presStyleLbl="revTx" presStyleIdx="1" presStyleCnt="2">
        <dgm:presLayoutVars>
          <dgm:chMax val="1"/>
          <dgm:chPref val="1"/>
        </dgm:presLayoutVars>
      </dgm:prSet>
      <dgm:spPr/>
    </dgm:pt>
  </dgm:ptLst>
  <dgm:cxnLst>
    <dgm:cxn modelId="{FBB8E204-D790-446D-9E26-338893E45EAF}" type="presOf" srcId="{C775C65E-B25B-4EDA-A884-5630975B65AD}" destId="{5313F69A-91A6-498C-B552-7D57453FD36D}" srcOrd="0" destOrd="0" presId="urn:microsoft.com/office/officeart/2018/2/layout/IconLabelList"/>
    <dgm:cxn modelId="{64357505-7B1A-46D3-954B-6CEA3C6963ED}" srcId="{FC317F11-1656-4F93-B446-E73642D66116}" destId="{C775C65E-B25B-4EDA-A884-5630975B65AD}" srcOrd="1" destOrd="0" parTransId="{662B43C6-DF22-48A8-A15F-C86C4A54CE92}" sibTransId="{3C1DC5D9-823C-49E5-9060-32DED79E5A7A}"/>
    <dgm:cxn modelId="{201CFF22-F20C-409F-969C-1F64EC520126}" type="presOf" srcId="{FC317F11-1656-4F93-B446-E73642D66116}" destId="{F21E6665-5B0B-4640-B37C-9CF620283681}" srcOrd="0" destOrd="0" presId="urn:microsoft.com/office/officeart/2018/2/layout/IconLabelList"/>
    <dgm:cxn modelId="{341A178F-2994-404B-9269-34E527368FDC}" type="presOf" srcId="{D194273C-4442-4779-B263-1DF17BD3D926}" destId="{AD7A4639-5D26-47E6-A3B3-3A5EE6997AA2}" srcOrd="0" destOrd="0" presId="urn:microsoft.com/office/officeart/2018/2/layout/IconLabelList"/>
    <dgm:cxn modelId="{D3310ECC-A254-4CB4-B100-358D4B0A0EA6}" srcId="{FC317F11-1656-4F93-B446-E73642D66116}" destId="{D194273C-4442-4779-B263-1DF17BD3D926}" srcOrd="0" destOrd="0" parTransId="{7689954E-4E50-4457-B62D-AC51DBD09677}" sibTransId="{49670928-CCF7-4F84-AE0A-03D3EAEB1AF2}"/>
    <dgm:cxn modelId="{CD90FE24-5DC0-498F-A9E9-F278CE64F7D3}" type="presParOf" srcId="{F21E6665-5B0B-4640-B37C-9CF620283681}" destId="{E99CE114-F147-4F3F-8091-4592DF4415F5}" srcOrd="0" destOrd="0" presId="urn:microsoft.com/office/officeart/2018/2/layout/IconLabelList"/>
    <dgm:cxn modelId="{04B71758-2064-4489-8778-11A144067B41}" type="presParOf" srcId="{E99CE114-F147-4F3F-8091-4592DF4415F5}" destId="{1A74CE16-6130-48D2-B609-29D57CF97EB4}" srcOrd="0" destOrd="0" presId="urn:microsoft.com/office/officeart/2018/2/layout/IconLabelList"/>
    <dgm:cxn modelId="{1EAFDF73-6EB5-4B6F-B962-54D0DA0C63A3}" type="presParOf" srcId="{E99CE114-F147-4F3F-8091-4592DF4415F5}" destId="{1EEF940E-2B41-48E4-B728-C30BD8DCEA6E}" srcOrd="1" destOrd="0" presId="urn:microsoft.com/office/officeart/2018/2/layout/IconLabelList"/>
    <dgm:cxn modelId="{47073A43-44A2-4D64-BE7A-7463805B0FE4}" type="presParOf" srcId="{E99CE114-F147-4F3F-8091-4592DF4415F5}" destId="{AD7A4639-5D26-47E6-A3B3-3A5EE6997AA2}" srcOrd="2" destOrd="0" presId="urn:microsoft.com/office/officeart/2018/2/layout/IconLabelList"/>
    <dgm:cxn modelId="{46D2F5FB-3EB1-4BD6-84FD-33DB9E234A02}" type="presParOf" srcId="{F21E6665-5B0B-4640-B37C-9CF620283681}" destId="{7B3F1BCD-183E-4EFB-993F-077A063A082F}" srcOrd="1" destOrd="0" presId="urn:microsoft.com/office/officeart/2018/2/layout/IconLabelList"/>
    <dgm:cxn modelId="{EFCAD783-6A2D-4A4C-8496-BA5B3BDC82B2}" type="presParOf" srcId="{F21E6665-5B0B-4640-B37C-9CF620283681}" destId="{94DD0B99-B709-4C35-9D23-9E9D670D79AB}" srcOrd="2" destOrd="0" presId="urn:microsoft.com/office/officeart/2018/2/layout/IconLabelList"/>
    <dgm:cxn modelId="{B523F2DD-AA12-47F1-9DB9-D91337B6BC51}" type="presParOf" srcId="{94DD0B99-B709-4C35-9D23-9E9D670D79AB}" destId="{A3C2553A-C0B6-44F2-95DB-6B379C1484E7}" srcOrd="0" destOrd="0" presId="urn:microsoft.com/office/officeart/2018/2/layout/IconLabelList"/>
    <dgm:cxn modelId="{E1DBAD53-E626-4CE2-9137-CC8E6E388A38}" type="presParOf" srcId="{94DD0B99-B709-4C35-9D23-9E9D670D79AB}" destId="{1A053FB5-2316-4206-8249-ED11C3E69F1F}" srcOrd="1" destOrd="0" presId="urn:microsoft.com/office/officeart/2018/2/layout/IconLabelList"/>
    <dgm:cxn modelId="{25461D45-4B86-4704-9F99-D0B1521188C3}" type="presParOf" srcId="{94DD0B99-B709-4C35-9D23-9E9D670D79AB}" destId="{5313F69A-91A6-498C-B552-7D57453FD36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74CE16-6130-48D2-B609-29D57CF97EB4}">
      <dsp:nvSpPr>
        <dsp:cNvPr id="0" name=""/>
        <dsp:cNvSpPr/>
      </dsp:nvSpPr>
      <dsp:spPr>
        <a:xfrm>
          <a:off x="1299066" y="479565"/>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7A4639-5D26-47E6-A3B3-3A5EE6997AA2}">
      <dsp:nvSpPr>
        <dsp:cNvPr id="0" name=""/>
        <dsp:cNvSpPr/>
      </dsp:nvSpPr>
      <dsp:spPr>
        <a:xfrm>
          <a:off x="111066" y="2893916"/>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US" sz="3200" b="1" kern="1200" dirty="0"/>
            <a:t>Date – 31st Jan 2024</a:t>
          </a:r>
          <a:endParaRPr lang="en-US" sz="3200" kern="1200" dirty="0"/>
        </a:p>
      </dsp:txBody>
      <dsp:txXfrm>
        <a:off x="111066" y="2893916"/>
        <a:ext cx="4320000" cy="720000"/>
      </dsp:txXfrm>
    </dsp:sp>
    <dsp:sp modelId="{A3C2553A-C0B6-44F2-95DB-6B379C1484E7}">
      <dsp:nvSpPr>
        <dsp:cNvPr id="0" name=""/>
        <dsp:cNvSpPr/>
      </dsp:nvSpPr>
      <dsp:spPr>
        <a:xfrm>
          <a:off x="6375066" y="479565"/>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313F69A-91A6-498C-B552-7D57453FD36D}">
      <dsp:nvSpPr>
        <dsp:cNvPr id="0" name=""/>
        <dsp:cNvSpPr/>
      </dsp:nvSpPr>
      <dsp:spPr>
        <a:xfrm>
          <a:off x="5187066" y="2893916"/>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US" sz="3200" b="1" kern="1200" dirty="0"/>
            <a:t>Trainer – Niranjan Dive</a:t>
          </a:r>
          <a:endParaRPr lang="en-US" sz="3200" kern="1200" dirty="0"/>
        </a:p>
      </dsp:txBody>
      <dsp:txXfrm>
        <a:off x="5187066" y="2893916"/>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387BE4-8BAE-475F-A2E1-816301D05C90}" type="datetimeFigureOut">
              <a:rPr lang="en-US" smtClean="0"/>
              <a:t>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F0150-1A6F-4BBB-B5B6-6EA2203DFA6F}" type="slidenum">
              <a:rPr lang="en-US" smtClean="0"/>
              <a:t>‹#›</a:t>
            </a:fld>
            <a:endParaRPr lang="en-US"/>
          </a:p>
        </p:txBody>
      </p:sp>
    </p:spTree>
    <p:extLst>
      <p:ext uri="{BB962C8B-B14F-4D97-AF65-F5344CB8AC3E}">
        <p14:creationId xmlns:p14="http://schemas.microsoft.com/office/powerpoint/2010/main" val="4217011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2692526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1839998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3634522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2117889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2349842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201659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1491569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3431847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2262467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r>
              <a:rPr lang="en-US" sz="1100" kern="1200" dirty="0">
                <a:solidFill>
                  <a:schemeClr val="tx1"/>
                </a:solidFill>
                <a:effectLst/>
                <a:latin typeface="+mn-lt"/>
                <a:ea typeface="+mn-ea"/>
                <a:cs typeface="+mn-cs"/>
              </a:rPr>
              <a:t>Managing hardware takes away time and resources you could be using to improve your architecture and your application. Hardware solutions are physical. This means they require space, staff, physical security, planning and capital expenditure.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You have to guess at theoretical maximum peaks, asking if there is enough resource capacity or if you have sufficient storage. What if your needs change? You have to go through the time, effort, and cost required to change all of these.</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For example, if you want to provision a new web site, you would have to go out and buy the hardware, rack and stack it, put it in a data center, and then manage it or have someone else manage it. This approach is very expensive.</a:t>
            </a:r>
          </a:p>
          <a:p>
            <a:r>
              <a:rPr lang="en-US" sz="1100" kern="1200" dirty="0">
                <a:solidFill>
                  <a:schemeClr val="tx1"/>
                </a:solidFill>
                <a:effectLst/>
                <a:latin typeface="+mn-lt"/>
                <a:ea typeface="+mn-ea"/>
                <a:cs typeface="+mn-cs"/>
              </a:rPr>
              <a:t> </a:t>
            </a:r>
          </a:p>
          <a:p>
            <a:r>
              <a:rPr lang="en-US" sz="1100" b="1" kern="1200" dirty="0">
                <a:solidFill>
                  <a:schemeClr val="tx1"/>
                </a:solidFill>
                <a:effectLst/>
                <a:latin typeface="+mn-lt"/>
                <a:ea typeface="+mn-ea"/>
                <a:cs typeface="+mn-cs"/>
              </a:rPr>
              <a:t>Cloud computing addresses some of the issues in the traditional computing model</a:t>
            </a:r>
            <a:r>
              <a:rPr lang="en-US" sz="1100" kern="1200" dirty="0">
                <a:solidFill>
                  <a:schemeClr val="tx1"/>
                </a:solidFill>
                <a:effectLst/>
                <a:latin typeface="+mn-lt"/>
                <a:ea typeface="+mn-ea"/>
                <a:cs typeface="+mn-cs"/>
              </a:rPr>
              <a:t>. One of the most prohibitive aspects of traditional computing is the significant up-front investment of acquiring, provisioning, and maintaining on-premises infrastructure. Cloud computing can get businesses up and running with a new solution in place quickly and with very </a:t>
            </a:r>
            <a:r>
              <a:rPr lang="en-US" sz="1100" b="1" kern="1200" dirty="0">
                <a:solidFill>
                  <a:schemeClr val="tx1"/>
                </a:solidFill>
                <a:effectLst/>
                <a:latin typeface="+mn-lt"/>
                <a:ea typeface="+mn-ea"/>
                <a:cs typeface="+mn-cs"/>
              </a:rPr>
              <a:t>low up-front costs</a:t>
            </a:r>
            <a:r>
              <a:rPr lang="en-US" sz="1100" kern="1200" dirty="0">
                <a:solidFill>
                  <a:schemeClr val="tx1"/>
                </a:solidFill>
                <a:effectLst/>
                <a:latin typeface="+mn-lt"/>
                <a:ea typeface="+mn-ea"/>
                <a:cs typeface="+mn-cs"/>
              </a:rPr>
              <a:t>. Then, you can </a:t>
            </a:r>
            <a:r>
              <a:rPr lang="en-US" sz="1100" b="1" kern="1200" dirty="0">
                <a:solidFill>
                  <a:schemeClr val="tx1"/>
                </a:solidFill>
                <a:effectLst/>
                <a:latin typeface="+mn-lt"/>
                <a:ea typeface="+mn-ea"/>
                <a:cs typeface="+mn-cs"/>
              </a:rPr>
              <a:t>elastically</a:t>
            </a:r>
            <a:r>
              <a:rPr lang="en-US" sz="1100" kern="1200" dirty="0">
                <a:solidFill>
                  <a:schemeClr val="tx1"/>
                </a:solidFill>
                <a:effectLst/>
                <a:latin typeface="+mn-lt"/>
                <a:ea typeface="+mn-ea"/>
                <a:cs typeface="+mn-cs"/>
              </a:rPr>
              <a:t> scale up and down in an automated fashion so that you </a:t>
            </a:r>
            <a:r>
              <a:rPr lang="en-US" sz="1100" b="1" kern="1200" dirty="0">
                <a:solidFill>
                  <a:schemeClr val="tx1"/>
                </a:solidFill>
                <a:effectLst/>
                <a:latin typeface="+mn-lt"/>
                <a:ea typeface="+mn-ea"/>
                <a:cs typeface="+mn-cs"/>
              </a:rPr>
              <a:t>pay only for what you use</a:t>
            </a:r>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 </a:t>
            </a:r>
          </a:p>
          <a:p>
            <a:r>
              <a:rPr lang="en-US" sz="1100" kern="1200" dirty="0">
                <a:solidFill>
                  <a:schemeClr val="tx1"/>
                </a:solidFill>
                <a:effectLst/>
                <a:latin typeface="+mn-lt"/>
                <a:ea typeface="+mn-ea"/>
                <a:cs typeface="+mn-cs"/>
              </a:rPr>
              <a:t>Cloud computing also allows you to select the services that best match your needs, giving you </a:t>
            </a:r>
            <a:r>
              <a:rPr lang="en-US" sz="1100" b="1" kern="1200" dirty="0">
                <a:solidFill>
                  <a:schemeClr val="tx1"/>
                </a:solidFill>
                <a:effectLst/>
                <a:latin typeface="+mn-lt"/>
                <a:ea typeface="+mn-ea"/>
                <a:cs typeface="+mn-cs"/>
              </a:rPr>
              <a:t>flexibility</a:t>
            </a:r>
            <a:r>
              <a:rPr lang="en-US" sz="1100" kern="1200" dirty="0">
                <a:solidFill>
                  <a:schemeClr val="tx1"/>
                </a:solidFill>
                <a:effectLst/>
                <a:latin typeface="+mn-lt"/>
                <a:ea typeface="+mn-ea"/>
                <a:cs typeface="+mn-cs"/>
              </a:rPr>
              <a:t> with a wide range of choices and the ability to change your configuration at will. All of these services are provided on a </a:t>
            </a:r>
            <a:r>
              <a:rPr lang="en-US" sz="1100" b="1" kern="1200" dirty="0">
                <a:solidFill>
                  <a:schemeClr val="tx1"/>
                </a:solidFill>
                <a:effectLst/>
                <a:latin typeface="+mn-lt"/>
                <a:ea typeface="+mn-ea"/>
                <a:cs typeface="+mn-cs"/>
              </a:rPr>
              <a:t>secured</a:t>
            </a:r>
            <a:r>
              <a:rPr lang="en-US" sz="1100" kern="1200" dirty="0">
                <a:solidFill>
                  <a:schemeClr val="tx1"/>
                </a:solidFill>
                <a:effectLst/>
                <a:latin typeface="+mn-lt"/>
                <a:ea typeface="+mn-ea"/>
                <a:cs typeface="+mn-cs"/>
              </a:rPr>
              <a:t> infrastructure. </a:t>
            </a:r>
          </a:p>
          <a:p>
            <a:pPr eaLnBrk="1" fontAlgn="auto" hangingPunct="1">
              <a:spcBef>
                <a:spcPts val="0"/>
              </a:spcBef>
              <a:spcAft>
                <a:spcPts val="0"/>
              </a:spcAft>
              <a:defRPr/>
            </a:pPr>
            <a:endParaRPr lang="en-US" sz="1100" dirty="0">
              <a:solidFill>
                <a:schemeClr val="bg1"/>
              </a:solidFill>
              <a:cs typeface="Arial" panose="020B0604020202020204" pitchFamily="34" charset="0"/>
            </a:endParaRPr>
          </a:p>
          <a:p>
            <a:endParaRPr lang="en-US" sz="1100" dirty="0"/>
          </a:p>
        </p:txBody>
      </p:sp>
    </p:spTree>
    <p:extLst>
      <p:ext uri="{BB962C8B-B14F-4D97-AF65-F5344CB8AC3E}">
        <p14:creationId xmlns:p14="http://schemas.microsoft.com/office/powerpoint/2010/main" val="3296830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4BBD97-450E-416C-BFF9-9664FD478963}"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1265807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4BBD97-450E-416C-BFF9-9664FD478963}"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724905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4BBD97-450E-416C-BFF9-9664FD478963}"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3061236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4BBD97-450E-416C-BFF9-9664FD478963}"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70848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4BBD97-450E-416C-BFF9-9664FD478963}" type="datetimeFigureOut">
              <a:rPr lang="en-US" smtClean="0"/>
              <a:t>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989582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4BBD97-450E-416C-BFF9-9664FD478963}" type="datetimeFigureOut">
              <a:rPr lang="en-US" smtClean="0"/>
              <a:t>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3884698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4BBD97-450E-416C-BFF9-9664FD478963}" type="datetimeFigureOut">
              <a:rPr lang="en-US" smtClean="0"/>
              <a:t>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2557510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4BBD97-450E-416C-BFF9-9664FD478963}"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3369501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4BBD97-450E-416C-BFF9-9664FD478963}" type="datetimeFigureOut">
              <a:rPr lang="en-US" smtClean="0"/>
              <a:t>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2442375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4BBD97-450E-416C-BFF9-9664FD478963}"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549335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4BBD97-450E-416C-BFF9-9664FD478963}"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BEC59-05B4-4519-80F5-EFA42DF9343E}"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05196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4BBD97-450E-416C-BFF9-9664FD478963}"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1732166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4BBD97-450E-416C-BFF9-9664FD478963}"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BEC59-05B4-4519-80F5-EFA42DF9343E}"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466132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4BBD97-450E-416C-BFF9-9664FD478963}"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512482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4BBD97-450E-416C-BFF9-9664FD478963}"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12261719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4BBD97-450E-416C-BFF9-9664FD478963}" type="datetimeFigureOut">
              <a:rPr lang="en-US" smtClean="0"/>
              <a:t>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ABEC59-05B4-4519-80F5-EFA42DF9343E}" type="slidenum">
              <a:rPr lang="en-US" smtClean="0"/>
              <a:t>‹#›</a:t>
            </a:fld>
            <a:endParaRPr lang="en-US"/>
          </a:p>
        </p:txBody>
      </p:sp>
    </p:spTree>
    <p:extLst>
      <p:ext uri="{BB962C8B-B14F-4D97-AF65-F5344CB8AC3E}">
        <p14:creationId xmlns:p14="http://schemas.microsoft.com/office/powerpoint/2010/main" val="29328051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Full bleed color Gradient">
    <p:bg>
      <p:bgPr>
        <a:gradFill flip="none" rotWithShape="1">
          <a:gsLst>
            <a:gs pos="40000">
              <a:schemeClr val="accent6"/>
            </a:gs>
            <a:gs pos="100000">
              <a:schemeClr val="accent1"/>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8" name="Color Stage">
            <a:extLst>
              <a:ext uri="{FF2B5EF4-FFF2-40B4-BE49-F238E27FC236}">
                <a16:creationId xmlns:a16="http://schemas.microsoft.com/office/drawing/2014/main" id="{B8172AC2-E83F-4EFD-B70E-DE91E64651D8}"/>
              </a:ext>
            </a:extLst>
          </p:cNvPr>
          <p:cNvSpPr/>
          <p:nvPr userDrawn="1"/>
        </p:nvSpPr>
        <p:spPr>
          <a:xfrm>
            <a:off x="0" y="1414463"/>
            <a:ext cx="12192000" cy="5443537"/>
          </a:xfrm>
          <a:prstGeom prst="rect">
            <a:avLst/>
          </a:prstGeom>
          <a:gradFill flip="none" rotWithShape="1">
            <a:gsLst>
              <a:gs pos="0">
                <a:schemeClr val="accent6"/>
              </a:gs>
              <a:gs pos="100000">
                <a:schemeClr val="bg2">
                  <a:alpha val="0"/>
                </a:schemeClr>
              </a:gs>
              <a:gs pos="40000">
                <a:schemeClr val="bg2">
                  <a:alpha val="5000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gn="l"/>
            <a:endParaRPr lang="en-US" dirty="0"/>
          </a:p>
        </p:txBody>
      </p:sp>
      <p:sp>
        <p:nvSpPr>
          <p:cNvPr id="2" name="Title" descr="Slide headlin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lvl1pPr>
              <a:defRPr>
                <a:solidFill>
                  <a:schemeClr val="tx1"/>
                </a:solidFill>
              </a:defRPr>
            </a:lvl1pPr>
          </a:lstStyle>
          <a:p>
            <a:r>
              <a:rPr lang="en-US"/>
              <a:t>Click to edit Master title style</a:t>
            </a:r>
            <a:endParaRPr lang="en-US" dirty="0"/>
          </a:p>
        </p:txBody>
      </p:sp>
      <p:pic>
        <p:nvPicPr>
          <p:cNvPr id="7" name="Siemens Logo" descr="Siemens logo">
            <a:extLst>
              <a:ext uri="{FF2B5EF4-FFF2-40B4-BE49-F238E27FC236}">
                <a16:creationId xmlns:a16="http://schemas.microsoft.com/office/drawing/2014/main" id="{863976F1-B9C2-4217-A36A-7F1DCFF6EE2A}"/>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bwMode="black">
          <a:xfrm>
            <a:off x="10635188" y="6418800"/>
            <a:ext cx="1152000" cy="183168"/>
          </a:xfrm>
          <a:prstGeom prst="rect">
            <a:avLst/>
          </a:prstGeom>
        </p:spPr>
      </p:pic>
      <p:sp>
        <p:nvSpPr>
          <p:cNvPr id="5" name="Footer Placeholder" descr="Footer with copyright, author and department information, and date">
            <a:extLst>
              <a:ext uri="{FF2B5EF4-FFF2-40B4-BE49-F238E27FC236}">
                <a16:creationId xmlns:a16="http://schemas.microsoft.com/office/drawing/2014/main" id="{E4BECE54-DDA8-4D2C-8A02-4C8E3E1585E1}"/>
              </a:ext>
            </a:extLst>
          </p:cNvPr>
          <p:cNvSpPr>
            <a:spLocks noGrp="1"/>
          </p:cNvSpPr>
          <p:nvPr>
            <p:ph type="ftr" sz="quarter" idx="10"/>
          </p:nvPr>
        </p:nvSpPr>
        <p:spPr bwMode="black"/>
        <p:txBody>
          <a:bodyPr/>
          <a:lstStyle/>
          <a:p>
            <a:pPr>
              <a:lnSpc>
                <a:spcPct val="100000"/>
              </a:lnSpc>
            </a:pPr>
            <a:r>
              <a:rPr lang="en-US"/>
              <a:t>Restricted | © Siemens 2022 | Niranjan Dive | ADV D AA MO INFRA DOC | 2023-04-12</a:t>
            </a:r>
            <a:endParaRPr lang="en-US" dirty="0"/>
          </a:p>
        </p:txBody>
      </p:sp>
      <p:sp>
        <p:nvSpPr>
          <p:cNvPr id="6" name="Slide Number Placeholder">
            <a:extLst>
              <a:ext uri="{FF2B5EF4-FFF2-40B4-BE49-F238E27FC236}">
                <a16:creationId xmlns:a16="http://schemas.microsoft.com/office/drawing/2014/main" id="{07B7E75B-80B4-49F8-AA70-A41C9D896853}"/>
              </a:ext>
              <a:ext uri="{C183D7F6-B498-43B3-948B-1728B52AA6E4}">
                <adec:decorative xmlns:adec="http://schemas.microsoft.com/office/drawing/2017/decorative" val="1"/>
              </a:ext>
            </a:extLst>
          </p:cNvPr>
          <p:cNvSpPr>
            <a:spLocks noGrp="1"/>
          </p:cNvSpPr>
          <p:nvPr>
            <p:ph type="sldNum" sz="quarter" idx="11"/>
          </p:nvPr>
        </p:nvSpPr>
        <p:spPr bwMode="black"/>
        <p:txBody>
          <a:bodyPr/>
          <a:lstStyle/>
          <a:p>
            <a:r>
              <a:rPr lang="en-US" dirty="0"/>
              <a:t>Page </a:t>
            </a:r>
            <a:fld id="{15EBE321-CBB1-4E91-BD14-37C8D44326FB}" type="slidenum">
              <a:rPr lang="en-US" smtClean="0"/>
              <a:pPr/>
              <a:t>‹#›</a:t>
            </a:fld>
            <a:endParaRPr lang="en-US" dirty="0"/>
          </a:p>
        </p:txBody>
      </p:sp>
    </p:spTree>
    <p:extLst>
      <p:ext uri="{BB962C8B-B14F-4D97-AF65-F5344CB8AC3E}">
        <p14:creationId xmlns:p14="http://schemas.microsoft.com/office/powerpoint/2010/main" val="16246336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59">
          <p15:clr>
            <a:srgbClr val="65CEFF"/>
          </p15:clr>
        </p15:guide>
        <p15:guide id="2" pos="2526">
          <p15:clr>
            <a:srgbClr val="65CEFF"/>
          </p15:clr>
        </p15:guide>
        <p15:guide id="3" pos="2708">
          <p15:clr>
            <a:srgbClr val="65CEFF"/>
          </p15:clr>
        </p15:guide>
        <p15:guide id="4" pos="3705">
          <p15:clr>
            <a:srgbClr val="65CEFF"/>
          </p15:clr>
        </p15:guide>
        <p15:guide id="5" pos="3978">
          <p15:clr>
            <a:srgbClr val="65CEFF"/>
          </p15:clr>
        </p15:guide>
        <p15:guide id="7" pos="4975">
          <p15:clr>
            <a:srgbClr val="65CEFF"/>
          </p15:clr>
        </p15:guide>
        <p15:guide id="8" pos="5157">
          <p15:clr>
            <a:srgbClr val="65CEFF"/>
          </p15:clr>
        </p15:guide>
        <p15:guide id="9" pos="6472">
          <p15:clr>
            <a:srgbClr val="65CEFF"/>
          </p15:clr>
        </p15:guide>
        <p15:guide id="10" pos="7425">
          <p15:clr>
            <a:srgbClr val="65CEFF"/>
          </p15:clr>
        </p15:guide>
        <p15:guide id="11" orient="horz" pos="302">
          <p15:clr>
            <a:srgbClr val="65CEFF"/>
          </p15:clr>
        </p15:guide>
        <p15:guide id="12" orient="horz" pos="663">
          <p15:clr>
            <a:srgbClr val="65CEFF"/>
          </p15:clr>
        </p15:guide>
        <p15:guide id="13" orient="horz" pos="891">
          <p15:clr>
            <a:srgbClr val="65CEFF"/>
          </p15:clr>
        </p15:guide>
        <p15:guide id="14" orient="horz" pos="2206">
          <p15:clr>
            <a:srgbClr val="65CEFF"/>
          </p15:clr>
        </p15:guide>
        <p15:guide id="15" orient="horz" pos="2343">
          <p15:clr>
            <a:srgbClr val="65CEFF"/>
          </p15:clr>
        </p15:guide>
        <p15:guide id="16" orient="horz" pos="3658">
          <p15:clr>
            <a:srgbClr val="65CEFF"/>
          </p15:clr>
        </p15:guide>
        <p15:guide id="17" orient="horz" pos="3885">
          <p15:clr>
            <a:srgbClr val="65CEFF"/>
          </p15:clr>
        </p15:guide>
        <p15:guide id="18" orient="horz" pos="4157">
          <p15:clr>
            <a:srgbClr val="65CEFF"/>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4BBD97-450E-416C-BFF9-9664FD478963}" type="datetimeFigureOut">
              <a:rPr lang="en-US" smtClean="0"/>
              <a:t>2/2/2024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DABEC59-05B4-4519-80F5-EFA42DF9343E}" type="slidenum">
              <a:rPr lang="en-US" smtClean="0"/>
              <a:t>‹#›</a:t>
            </a:fld>
            <a:endParaRPr lang="en-US"/>
          </a:p>
        </p:txBody>
      </p:sp>
    </p:spTree>
    <p:extLst>
      <p:ext uri="{BB962C8B-B14F-4D97-AF65-F5344CB8AC3E}">
        <p14:creationId xmlns:p14="http://schemas.microsoft.com/office/powerpoint/2010/main" val="386157388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660"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hyperlink" Target="https://www.educba.com/what-is-paas/"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docs.aws.amazon.com/vpc/latest/userguide/configure-subnets.html"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93E26-6CDA-FBC0-F0D6-80DDF505781D}"/>
              </a:ext>
            </a:extLst>
          </p:cNvPr>
          <p:cNvSpPr>
            <a:spLocks noGrp="1"/>
          </p:cNvSpPr>
          <p:nvPr>
            <p:ph type="ctrTitle"/>
          </p:nvPr>
        </p:nvSpPr>
        <p:spPr>
          <a:xfrm>
            <a:off x="1726931" y="1710268"/>
            <a:ext cx="8113023" cy="872922"/>
          </a:xfrm>
        </p:spPr>
        <p:txBody>
          <a:bodyPr>
            <a:normAutofit fontScale="90000"/>
          </a:bodyPr>
          <a:lstStyle/>
          <a:p>
            <a:pPr algn="ctr"/>
            <a:r>
              <a:rPr lang="en-US" dirty="0">
                <a:cs typeface="Aharoni" pitchFamily="2" charset="-79"/>
              </a:rPr>
              <a:t>Welcome !</a:t>
            </a:r>
          </a:p>
        </p:txBody>
      </p:sp>
      <p:sp>
        <p:nvSpPr>
          <p:cNvPr id="3" name="Subtitle 2">
            <a:extLst>
              <a:ext uri="{FF2B5EF4-FFF2-40B4-BE49-F238E27FC236}">
                <a16:creationId xmlns:a16="http://schemas.microsoft.com/office/drawing/2014/main" id="{592BDF3D-65E6-EE59-247F-D7865D171C84}"/>
              </a:ext>
            </a:extLst>
          </p:cNvPr>
          <p:cNvSpPr>
            <a:spLocks noGrp="1"/>
          </p:cNvSpPr>
          <p:nvPr>
            <p:ph type="subTitle" idx="1"/>
          </p:nvPr>
        </p:nvSpPr>
        <p:spPr/>
        <p:txBody>
          <a:bodyPr/>
          <a:lstStyle/>
          <a:p>
            <a:endParaRPr lang="en-US" dirty="0"/>
          </a:p>
        </p:txBody>
      </p:sp>
      <p:pic>
        <p:nvPicPr>
          <p:cNvPr id="5" name="Picture 4">
            <a:extLst>
              <a:ext uri="{FF2B5EF4-FFF2-40B4-BE49-F238E27FC236}">
                <a16:creationId xmlns:a16="http://schemas.microsoft.com/office/drawing/2014/main" id="{7A033B43-D126-4BB6-F246-953D73449ABC}"/>
              </a:ext>
            </a:extLst>
          </p:cNvPr>
          <p:cNvPicPr>
            <a:picLocks noChangeAspect="1"/>
          </p:cNvPicPr>
          <p:nvPr/>
        </p:nvPicPr>
        <p:blipFill>
          <a:blip r:embed="rId2"/>
          <a:stretch>
            <a:fillRect/>
          </a:stretch>
        </p:blipFill>
        <p:spPr>
          <a:xfrm>
            <a:off x="3791975" y="277984"/>
            <a:ext cx="3982936" cy="1109283"/>
          </a:xfrm>
          <a:prstGeom prst="rect">
            <a:avLst/>
          </a:prstGeom>
        </p:spPr>
      </p:pic>
      <p:pic>
        <p:nvPicPr>
          <p:cNvPr id="5122" name="Picture 2" descr="DevOps">
            <a:extLst>
              <a:ext uri="{FF2B5EF4-FFF2-40B4-BE49-F238E27FC236}">
                <a16:creationId xmlns:a16="http://schemas.microsoft.com/office/drawing/2014/main" id="{F9314622-B1DE-D77B-D69C-7E22181C0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067" y="2644883"/>
            <a:ext cx="8187434" cy="4213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274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4ECCDB3-32B5-996B-2CB3-EB2465654972}"/>
              </a:ext>
            </a:extLst>
          </p:cNvPr>
          <p:cNvSpPr>
            <a:spLocks noGrp="1"/>
          </p:cNvSpPr>
          <p:nvPr>
            <p:ph type="title" idx="4294967295"/>
          </p:nvPr>
        </p:nvSpPr>
        <p:spPr>
          <a:xfrm>
            <a:off x="251748" y="439479"/>
            <a:ext cx="10196512" cy="1100138"/>
          </a:xfrm>
        </p:spPr>
        <p:txBody>
          <a:bodyPr vert="horz" lIns="91440" tIns="45720" rIns="91440" bIns="45720" rtlCol="0" anchor="t">
            <a:normAutofit/>
          </a:bodyPr>
          <a:lstStyle/>
          <a:p>
            <a:r>
              <a:rPr lang="en-US" dirty="0"/>
              <a:t>Course : DevOps with cloud computing (AWS)</a:t>
            </a:r>
            <a:br>
              <a:rPr lang="en-US" dirty="0"/>
            </a:br>
            <a:r>
              <a:rPr lang="en-US" sz="2200" i="1" dirty="0"/>
              <a:t>Cloud computing and AWS</a:t>
            </a:r>
          </a:p>
        </p:txBody>
      </p:sp>
      <p:graphicFrame>
        <p:nvGraphicFramePr>
          <p:cNvPr id="14" name="Title 10">
            <a:extLst>
              <a:ext uri="{FF2B5EF4-FFF2-40B4-BE49-F238E27FC236}">
                <a16:creationId xmlns:a16="http://schemas.microsoft.com/office/drawing/2014/main" id="{7F798F2C-8BD7-D987-2576-75DC6C41CA86}"/>
              </a:ext>
            </a:extLst>
          </p:cNvPr>
          <p:cNvGraphicFramePr/>
          <p:nvPr>
            <p:extLst>
              <p:ext uri="{D42A27DB-BD31-4B8C-83A1-F6EECF244321}">
                <p14:modId xmlns:p14="http://schemas.microsoft.com/office/powerpoint/2010/main" val="2310538040"/>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3472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3" name="Group 1032">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34" name="Straight Connector 1033">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5" name="Straight Connector 1034">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36"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7"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8" name="Isosceles Triangle 1037">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9"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0"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1"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2" name="Isosceles Triangle 1041">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3" name="Isosceles Triangle 1042">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C624245F-02B0-8EEA-56DD-8A1FAB492FE6}"/>
              </a:ext>
            </a:extLst>
          </p:cNvPr>
          <p:cNvSpPr>
            <a:spLocks noGrp="1"/>
          </p:cNvSpPr>
          <p:nvPr>
            <p:ph type="title"/>
          </p:nvPr>
        </p:nvSpPr>
        <p:spPr>
          <a:xfrm>
            <a:off x="5789662" y="553773"/>
            <a:ext cx="3737268" cy="1320800"/>
          </a:xfrm>
        </p:spPr>
        <p:txBody>
          <a:bodyPr vert="horz" lIns="91440" tIns="45720" rIns="91440" bIns="45720" rtlCol="0" anchor="t">
            <a:normAutofit/>
          </a:bodyPr>
          <a:lstStyle/>
          <a:p>
            <a:r>
              <a:rPr lang="en-US" dirty="0"/>
              <a:t>Agenda</a:t>
            </a:r>
          </a:p>
        </p:txBody>
      </p:sp>
      <p:sp>
        <p:nvSpPr>
          <p:cNvPr id="3" name="Content Placeholder 2">
            <a:extLst>
              <a:ext uri="{FF2B5EF4-FFF2-40B4-BE49-F238E27FC236}">
                <a16:creationId xmlns:a16="http://schemas.microsoft.com/office/drawing/2014/main" id="{ABE34780-7B41-967C-0E08-32730B286F7B}"/>
              </a:ext>
            </a:extLst>
          </p:cNvPr>
          <p:cNvSpPr>
            <a:spLocks noGrp="1"/>
          </p:cNvSpPr>
          <p:nvPr>
            <p:ph sz="half" idx="1"/>
          </p:nvPr>
        </p:nvSpPr>
        <p:spPr>
          <a:xfrm>
            <a:off x="5742607" y="2021946"/>
            <a:ext cx="4064439" cy="3880773"/>
          </a:xfrm>
        </p:spPr>
        <p:txBody>
          <a:bodyPr vert="horz" lIns="91440" tIns="45720" rIns="91440" bIns="45720" rtlCol="0">
            <a:normAutofit/>
          </a:bodyPr>
          <a:lstStyle/>
          <a:p>
            <a:r>
              <a:rPr lang="en-US" sz="2000" dirty="0"/>
              <a:t>What is AWS ?</a:t>
            </a:r>
          </a:p>
          <a:p>
            <a:pPr marL="0" indent="0"/>
            <a:endParaRPr lang="en-US" sz="2000" dirty="0"/>
          </a:p>
          <a:p>
            <a:r>
              <a:rPr lang="en-US" sz="2000" dirty="0"/>
              <a:t>What is Cloud Computing?</a:t>
            </a:r>
          </a:p>
          <a:p>
            <a:endParaRPr lang="en-US" sz="2000" dirty="0"/>
          </a:p>
          <a:p>
            <a:r>
              <a:rPr lang="en-US" sz="2000" dirty="0"/>
              <a:t>Why Cloud Computing ?</a:t>
            </a:r>
          </a:p>
          <a:p>
            <a:pPr marL="0" indent="0"/>
            <a:endParaRPr lang="en-US" sz="2000" dirty="0"/>
          </a:p>
          <a:p>
            <a:r>
              <a:rPr lang="en-US" sz="2000" dirty="0"/>
              <a:t>Service Models</a:t>
            </a:r>
          </a:p>
          <a:p>
            <a:pPr marL="0" indent="0"/>
            <a:endParaRPr lang="en-US" sz="2000" dirty="0"/>
          </a:p>
          <a:p>
            <a:r>
              <a:rPr lang="en-US" sz="2000" dirty="0"/>
              <a:t>Deployment Models</a:t>
            </a:r>
          </a:p>
          <a:p>
            <a:endParaRPr lang="en-US" dirty="0"/>
          </a:p>
          <a:p>
            <a:pPr marL="0" indent="0"/>
            <a:endParaRPr lang="en-US" dirty="0"/>
          </a:p>
          <a:p>
            <a:endParaRPr lang="en-US" dirty="0"/>
          </a:p>
        </p:txBody>
      </p:sp>
      <p:pic>
        <p:nvPicPr>
          <p:cNvPr id="1028" name="Picture 4" descr="What is Cloud Computing? A Full Overview - Cloud Academy Blog">
            <a:extLst>
              <a:ext uri="{FF2B5EF4-FFF2-40B4-BE49-F238E27FC236}">
                <a16:creationId xmlns:a16="http://schemas.microsoft.com/office/drawing/2014/main" id="{31E4BA64-3E9E-D2EA-E277-4D837D95B26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286" r="29004" b="-1"/>
          <a:stretch/>
        </p:blipFill>
        <p:spPr bwMode="auto">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1045" name="Isosceles Triangle 1044">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58078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2" name="Rectangle 2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4" name="Rectangle 2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37">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Freeform: Shape 39">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267282A-41EE-8B31-A673-C06AE770E575}"/>
              </a:ext>
            </a:extLst>
          </p:cNvPr>
          <p:cNvSpPr>
            <a:spLocks noGrp="1"/>
          </p:cNvSpPr>
          <p:nvPr>
            <p:ph type="title"/>
          </p:nvPr>
        </p:nvSpPr>
        <p:spPr>
          <a:xfrm>
            <a:off x="7580787" y="334717"/>
            <a:ext cx="4635676" cy="1189283"/>
          </a:xfrm>
        </p:spPr>
        <p:txBody>
          <a:bodyPr vert="horz" lIns="91440" tIns="45720" rIns="91440" bIns="45720" rtlCol="0" anchor="ctr">
            <a:normAutofit/>
          </a:bodyPr>
          <a:lstStyle/>
          <a:p>
            <a:r>
              <a:rPr lang="en-US" dirty="0">
                <a:solidFill>
                  <a:srgbClr val="FFFFFF"/>
                </a:solidFill>
              </a:rPr>
              <a:t>What is AWS ?</a:t>
            </a:r>
          </a:p>
        </p:txBody>
      </p:sp>
      <p:sp>
        <p:nvSpPr>
          <p:cNvPr id="3" name="Content Placeholder 2">
            <a:extLst>
              <a:ext uri="{FF2B5EF4-FFF2-40B4-BE49-F238E27FC236}">
                <a16:creationId xmlns:a16="http://schemas.microsoft.com/office/drawing/2014/main" id="{DC7A4249-89B9-5FCD-5812-E32881B25A65}"/>
              </a:ext>
            </a:extLst>
          </p:cNvPr>
          <p:cNvSpPr>
            <a:spLocks noGrp="1"/>
          </p:cNvSpPr>
          <p:nvPr>
            <p:ph sz="half" idx="1"/>
          </p:nvPr>
        </p:nvSpPr>
        <p:spPr>
          <a:xfrm>
            <a:off x="6740489" y="1482165"/>
            <a:ext cx="5231996" cy="4525230"/>
          </a:xfrm>
        </p:spPr>
        <p:txBody>
          <a:bodyPr vert="horz" lIns="91440" tIns="45720" rIns="91440" bIns="45720" rtlCol="0" anchor="t">
            <a:normAutofit/>
          </a:bodyPr>
          <a:lstStyle/>
          <a:p>
            <a:pPr marL="0" indent="0"/>
            <a:endParaRPr lang="en-US" i="1" dirty="0">
              <a:solidFill>
                <a:srgbClr val="FFFFFF"/>
              </a:solidFill>
            </a:endParaRPr>
          </a:p>
          <a:p>
            <a:pPr marL="0" indent="0" algn="ctr">
              <a:buNone/>
            </a:pPr>
            <a:r>
              <a:rPr lang="en-US" sz="2800" b="1" i="1" u="sng" dirty="0">
                <a:solidFill>
                  <a:srgbClr val="FFFFFF"/>
                </a:solidFill>
              </a:rPr>
              <a:t>Amazon Web Services</a:t>
            </a:r>
            <a:r>
              <a:rPr lang="en-US" sz="2800" i="1" dirty="0">
                <a:solidFill>
                  <a:srgbClr val="FFFFFF"/>
                </a:solidFill>
              </a:rPr>
              <a:t>, Inc. is a subsidiary of Amazon that provides on-demand </a:t>
            </a:r>
            <a:r>
              <a:rPr lang="en-US" sz="2800" b="1" i="1" u="sng" dirty="0">
                <a:solidFill>
                  <a:srgbClr val="FFFFFF"/>
                </a:solidFill>
              </a:rPr>
              <a:t>cloud computing</a:t>
            </a:r>
            <a:r>
              <a:rPr lang="en-US" sz="2800" i="1" dirty="0">
                <a:solidFill>
                  <a:srgbClr val="FFFFFF"/>
                </a:solidFill>
              </a:rPr>
              <a:t> platforms and APIs to individuals, companies, and governments, on a metered, pay-as-you-go basis.</a:t>
            </a:r>
          </a:p>
        </p:txBody>
      </p:sp>
      <p:pic>
        <p:nvPicPr>
          <p:cNvPr id="4" name="Picture 2" descr="Amazon Web Services | Official Profile">
            <a:extLst>
              <a:ext uri="{FF2B5EF4-FFF2-40B4-BE49-F238E27FC236}">
                <a16:creationId xmlns:a16="http://schemas.microsoft.com/office/drawing/2014/main" id="{7B1E81AA-95A8-B1B7-EA8E-3BCC349B5C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857" y="1524000"/>
            <a:ext cx="3540786" cy="3540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425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2" name="Rectangle 2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4" name="Rectangle 2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3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Isosceles Triangle 37">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Freeform: Shape 39">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267282A-41EE-8B31-A673-C06AE770E575}"/>
              </a:ext>
            </a:extLst>
          </p:cNvPr>
          <p:cNvSpPr>
            <a:spLocks noGrp="1"/>
          </p:cNvSpPr>
          <p:nvPr>
            <p:ph type="title"/>
          </p:nvPr>
        </p:nvSpPr>
        <p:spPr>
          <a:xfrm>
            <a:off x="5111250" y="104606"/>
            <a:ext cx="6452661" cy="1189283"/>
          </a:xfrm>
        </p:spPr>
        <p:txBody>
          <a:bodyPr vert="horz" lIns="91440" tIns="45720" rIns="91440" bIns="45720" rtlCol="0" anchor="ctr">
            <a:normAutofit/>
          </a:bodyPr>
          <a:lstStyle/>
          <a:p>
            <a:r>
              <a:rPr lang="en-US">
                <a:solidFill>
                  <a:srgbClr val="FFFFFF"/>
                </a:solidFill>
              </a:rPr>
              <a:t>What is Cloud-computing ?</a:t>
            </a:r>
            <a:endParaRPr lang="en-US" dirty="0">
              <a:solidFill>
                <a:srgbClr val="FFFFFF"/>
              </a:solidFill>
            </a:endParaRPr>
          </a:p>
        </p:txBody>
      </p:sp>
      <p:sp>
        <p:nvSpPr>
          <p:cNvPr id="3" name="Content Placeholder 2">
            <a:extLst>
              <a:ext uri="{FF2B5EF4-FFF2-40B4-BE49-F238E27FC236}">
                <a16:creationId xmlns:a16="http://schemas.microsoft.com/office/drawing/2014/main" id="{DC7A4249-89B9-5FCD-5812-E32881B25A65}"/>
              </a:ext>
            </a:extLst>
          </p:cNvPr>
          <p:cNvSpPr>
            <a:spLocks noGrp="1"/>
          </p:cNvSpPr>
          <p:nvPr>
            <p:ph sz="half" idx="1"/>
          </p:nvPr>
        </p:nvSpPr>
        <p:spPr>
          <a:xfrm>
            <a:off x="6397150" y="2079274"/>
            <a:ext cx="5231996" cy="4525230"/>
          </a:xfrm>
        </p:spPr>
        <p:txBody>
          <a:bodyPr vert="horz" lIns="91440" tIns="45720" rIns="91440" bIns="45720" rtlCol="0" anchor="t">
            <a:normAutofit/>
          </a:bodyPr>
          <a:lstStyle/>
          <a:p>
            <a:pPr marL="0" indent="0" algn="ctr">
              <a:buNone/>
            </a:pPr>
            <a:r>
              <a:rPr lang="en-US" sz="3600" i="1">
                <a:solidFill>
                  <a:srgbClr val="FFFFFF"/>
                </a:solidFill>
              </a:rPr>
              <a:t>“Cloud computing is the on-demand delivery of IT resources over the Internet with pay-as-you-go pricing”</a:t>
            </a:r>
            <a:endParaRPr lang="en-US" sz="3600" i="1" dirty="0">
              <a:solidFill>
                <a:srgbClr val="FFFFFF"/>
              </a:solidFill>
            </a:endParaRPr>
          </a:p>
        </p:txBody>
      </p:sp>
      <p:pic>
        <p:nvPicPr>
          <p:cNvPr id="3074" name="Picture 2" descr="What Is Cloud Computing? - DATAVERSITY">
            <a:extLst>
              <a:ext uri="{FF2B5EF4-FFF2-40B4-BE49-F238E27FC236}">
                <a16:creationId xmlns:a16="http://schemas.microsoft.com/office/drawing/2014/main" id="{CAA13C5C-CBE1-5A86-261E-053866DE83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837" y="1756995"/>
            <a:ext cx="4280364" cy="3196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17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88C9B83F-64CD-41C1-925F-A08801FFD0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6" name="Straight Connector 45">
              <a:extLst>
                <a:ext uri="{FF2B5EF4-FFF2-40B4-BE49-F238E27FC236}">
                  <a16:creationId xmlns:a16="http://schemas.microsoft.com/office/drawing/2014/main" id="{E1655065-0BD7-4422-BEC0-4401E99809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4DDD90AC-ABEC-4A76-9C9C-AD0A5F8FC7F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8" name="Rectangle 23">
              <a:extLst>
                <a:ext uri="{FF2B5EF4-FFF2-40B4-BE49-F238E27FC236}">
                  <a16:creationId xmlns:a16="http://schemas.microsoft.com/office/drawing/2014/main" id="{21A8AFEF-EC50-4C0B-9C64-814B76C82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25">
              <a:extLst>
                <a:ext uri="{FF2B5EF4-FFF2-40B4-BE49-F238E27FC236}">
                  <a16:creationId xmlns:a16="http://schemas.microsoft.com/office/drawing/2014/main" id="{CAFAA800-E117-4357-84E4-56B63EA03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Isosceles Triangle 49">
              <a:extLst>
                <a:ext uri="{FF2B5EF4-FFF2-40B4-BE49-F238E27FC236}">
                  <a16:creationId xmlns:a16="http://schemas.microsoft.com/office/drawing/2014/main" id="{8DDFC9F4-3B45-402D-8AD7-60B3F08ED7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Rectangle 27">
              <a:extLst>
                <a:ext uri="{FF2B5EF4-FFF2-40B4-BE49-F238E27FC236}">
                  <a16:creationId xmlns:a16="http://schemas.microsoft.com/office/drawing/2014/main" id="{F26A0854-FBE4-4587-B349-06BE192BD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28">
              <a:extLst>
                <a:ext uri="{FF2B5EF4-FFF2-40B4-BE49-F238E27FC236}">
                  <a16:creationId xmlns:a16="http://schemas.microsoft.com/office/drawing/2014/main" id="{54A9C4C6-FF7D-470E-BFCA-CE4F60A1F0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Rectangle 29">
              <a:extLst>
                <a:ext uri="{FF2B5EF4-FFF2-40B4-BE49-F238E27FC236}">
                  <a16:creationId xmlns:a16="http://schemas.microsoft.com/office/drawing/2014/main" id="{B1721EA8-4871-45D4-B78F-AE805A300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Isosceles Triangle 53">
              <a:extLst>
                <a:ext uri="{FF2B5EF4-FFF2-40B4-BE49-F238E27FC236}">
                  <a16:creationId xmlns:a16="http://schemas.microsoft.com/office/drawing/2014/main" id="{E5763971-E3A3-45C6-9BA8-2E032C7A5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5" name="Isosceles Triangle 54">
              <a:extLst>
                <a:ext uri="{FF2B5EF4-FFF2-40B4-BE49-F238E27FC236}">
                  <a16:creationId xmlns:a16="http://schemas.microsoft.com/office/drawing/2014/main" id="{32752E94-0E01-4AF5-A43A-F2FAD8737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0267282A-41EE-8B31-A673-C06AE770E575}"/>
              </a:ext>
            </a:extLst>
          </p:cNvPr>
          <p:cNvSpPr>
            <a:spLocks noGrp="1"/>
          </p:cNvSpPr>
          <p:nvPr>
            <p:ph type="title"/>
          </p:nvPr>
        </p:nvSpPr>
        <p:spPr>
          <a:xfrm>
            <a:off x="1171039" y="38125"/>
            <a:ext cx="8288032" cy="1096648"/>
          </a:xfrm>
        </p:spPr>
        <p:txBody>
          <a:bodyPr vert="horz" lIns="91440" tIns="45720" rIns="91440" bIns="45720" rtlCol="0" anchor="b">
            <a:normAutofit/>
          </a:bodyPr>
          <a:lstStyle/>
          <a:p>
            <a:r>
              <a:rPr lang="en-US" sz="4800" dirty="0"/>
              <a:t>Why Cloud-computing ?</a:t>
            </a:r>
          </a:p>
        </p:txBody>
      </p:sp>
      <p:sp>
        <p:nvSpPr>
          <p:cNvPr id="3" name="Content Placeholder 2">
            <a:extLst>
              <a:ext uri="{FF2B5EF4-FFF2-40B4-BE49-F238E27FC236}">
                <a16:creationId xmlns:a16="http://schemas.microsoft.com/office/drawing/2014/main" id="{DC7A4249-89B9-5FCD-5812-E32881B25A65}"/>
              </a:ext>
            </a:extLst>
          </p:cNvPr>
          <p:cNvSpPr>
            <a:spLocks noGrp="1"/>
          </p:cNvSpPr>
          <p:nvPr>
            <p:ph sz="half" idx="1"/>
          </p:nvPr>
        </p:nvSpPr>
        <p:spPr>
          <a:xfrm>
            <a:off x="1190839" y="5518646"/>
            <a:ext cx="8288032" cy="701677"/>
          </a:xfrm>
        </p:spPr>
        <p:txBody>
          <a:bodyPr vert="horz" lIns="91440" tIns="45720" rIns="91440" bIns="45720" rtlCol="0" anchor="t">
            <a:normAutofit/>
          </a:bodyPr>
          <a:lstStyle/>
          <a:p>
            <a:pPr marL="0" indent="0">
              <a:buNone/>
            </a:pPr>
            <a:r>
              <a:rPr lang="en-US" i="1" dirty="0">
                <a:solidFill>
                  <a:schemeClr val="tx1">
                    <a:lumMod val="50000"/>
                    <a:lumOff val="50000"/>
                  </a:schemeClr>
                </a:solidFill>
              </a:rPr>
              <a:t>Consider </a:t>
            </a:r>
            <a:r>
              <a:rPr lang="en-US" i="1" dirty="0" err="1">
                <a:solidFill>
                  <a:schemeClr val="tx1">
                    <a:lumMod val="50000"/>
                    <a:lumOff val="50000"/>
                  </a:schemeClr>
                </a:solidFill>
              </a:rPr>
              <a:t>Mr.x</a:t>
            </a:r>
            <a:r>
              <a:rPr lang="en-US" i="1" dirty="0">
                <a:solidFill>
                  <a:schemeClr val="tx1">
                    <a:lumMod val="50000"/>
                    <a:lumOff val="50000"/>
                  </a:schemeClr>
                </a:solidFill>
              </a:rPr>
              <a:t> wants to start a company.</a:t>
            </a:r>
          </a:p>
        </p:txBody>
      </p:sp>
      <p:pic>
        <p:nvPicPr>
          <p:cNvPr id="5" name="Picture 4">
            <a:extLst>
              <a:ext uri="{FF2B5EF4-FFF2-40B4-BE49-F238E27FC236}">
                <a16:creationId xmlns:a16="http://schemas.microsoft.com/office/drawing/2014/main" id="{828962E7-FCEE-DBCA-8510-D59157757BC4}"/>
              </a:ext>
            </a:extLst>
          </p:cNvPr>
          <p:cNvPicPr>
            <a:picLocks noChangeAspect="1"/>
          </p:cNvPicPr>
          <p:nvPr/>
        </p:nvPicPr>
        <p:blipFill rotWithShape="1">
          <a:blip r:embed="rId2"/>
          <a:srcRect t="1282" r="2" b="2"/>
          <a:stretch/>
        </p:blipFill>
        <p:spPr>
          <a:xfrm>
            <a:off x="843855" y="1348400"/>
            <a:ext cx="8274669" cy="3635025"/>
          </a:xfrm>
          <a:custGeom>
            <a:avLst/>
            <a:gdLst/>
            <a:ahLst/>
            <a:cxnLst/>
            <a:rect l="l" t="t" r="r" b="b"/>
            <a:pathLst>
              <a:path w="8274669" h="3635025">
                <a:moveTo>
                  <a:pt x="540554" y="0"/>
                </a:moveTo>
                <a:lnTo>
                  <a:pt x="8274669" y="0"/>
                </a:lnTo>
                <a:lnTo>
                  <a:pt x="8274669" y="3635025"/>
                </a:lnTo>
                <a:lnTo>
                  <a:pt x="0" y="3635025"/>
                </a:lnTo>
                <a:close/>
              </a:path>
            </a:pathLst>
          </a:custGeom>
        </p:spPr>
      </p:pic>
    </p:spTree>
    <p:extLst>
      <p:ext uri="{BB962C8B-B14F-4D97-AF65-F5344CB8AC3E}">
        <p14:creationId xmlns:p14="http://schemas.microsoft.com/office/powerpoint/2010/main" val="3796337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48561" y="393551"/>
            <a:ext cx="8596668" cy="1320800"/>
          </a:xfrm>
        </p:spPr>
        <p:txBody>
          <a:bodyPr/>
          <a:lstStyle/>
          <a:p>
            <a:r>
              <a:rPr lang="en-US" dirty="0"/>
              <a:t>Before Cloud Computing </a:t>
            </a:r>
          </a:p>
        </p:txBody>
      </p:sp>
      <p:sp>
        <p:nvSpPr>
          <p:cNvPr id="7" name="Content Placeholder 6"/>
          <p:cNvSpPr>
            <a:spLocks noGrp="1"/>
          </p:cNvSpPr>
          <p:nvPr>
            <p:ph idx="1"/>
          </p:nvPr>
        </p:nvSpPr>
        <p:spPr>
          <a:xfrm>
            <a:off x="5177251" y="1243173"/>
            <a:ext cx="6987351" cy="5537771"/>
          </a:xfrm>
        </p:spPr>
        <p:txBody>
          <a:bodyPr>
            <a:normAutofit fontScale="92500" lnSpcReduction="20000"/>
          </a:bodyPr>
          <a:lstStyle/>
          <a:p>
            <a:pPr marL="457200" indent="-457200"/>
            <a:r>
              <a:rPr lang="en-US" sz="3000" b="1" u="sng" dirty="0"/>
              <a:t>On-Prem</a:t>
            </a:r>
            <a:r>
              <a:rPr lang="en-US" sz="3000" dirty="0"/>
              <a:t> solutions are </a:t>
            </a:r>
            <a:r>
              <a:rPr lang="en-US" sz="3000" b="1" dirty="0">
                <a:latin typeface="Amazon Ember" panose="020B0603020204020204" pitchFamily="34" charset="0"/>
                <a:ea typeface="Amazon Ember" panose="020B0603020204020204" pitchFamily="34" charset="0"/>
                <a:cs typeface="Amazon Ember" panose="020B0603020204020204" pitchFamily="34" charset="0"/>
              </a:rPr>
              <a:t>physical</a:t>
            </a:r>
            <a:r>
              <a:rPr lang="en-US" sz="3000" dirty="0"/>
              <a:t>. This means they require:</a:t>
            </a:r>
          </a:p>
          <a:p>
            <a:pPr marL="914400" lvl="1" indent="-457200"/>
            <a:r>
              <a:rPr lang="en-US" sz="2600" dirty="0"/>
              <a:t>Space</a:t>
            </a:r>
          </a:p>
          <a:p>
            <a:pPr marL="914400" lvl="1" indent="-457200"/>
            <a:r>
              <a:rPr lang="en-US" sz="2600" dirty="0"/>
              <a:t>Staff</a:t>
            </a:r>
          </a:p>
          <a:p>
            <a:pPr marL="914400" lvl="1" indent="-457200"/>
            <a:r>
              <a:rPr lang="en-US" sz="2600" dirty="0"/>
              <a:t>Physical security</a:t>
            </a:r>
          </a:p>
          <a:p>
            <a:pPr marL="914400" lvl="1" indent="-457200"/>
            <a:r>
              <a:rPr lang="en-US" sz="2600" dirty="0"/>
              <a:t>Planning</a:t>
            </a:r>
          </a:p>
          <a:p>
            <a:pPr marL="914400" lvl="1" indent="-457200"/>
            <a:r>
              <a:rPr lang="en-US" sz="2600" dirty="0"/>
              <a:t>Capital expenditure</a:t>
            </a:r>
          </a:p>
          <a:p>
            <a:pPr marL="914400" lvl="1" indent="-457200"/>
            <a:r>
              <a:rPr lang="en-US" sz="2600" dirty="0"/>
              <a:t>Is there enough resource capacity?</a:t>
            </a:r>
          </a:p>
          <a:p>
            <a:pPr marL="914400" lvl="1" indent="-457200"/>
            <a:r>
              <a:rPr lang="en-US" sz="2600" dirty="0"/>
              <a:t>Do we have sufficient storage?</a:t>
            </a:r>
          </a:p>
          <a:p>
            <a:pPr marL="385224" lvl="1"/>
            <a:endParaRPr lang="en-US" sz="2133" dirty="0"/>
          </a:p>
          <a:p>
            <a:pPr marL="4233" lvl="1" indent="0">
              <a:spcBef>
                <a:spcPts val="0"/>
              </a:spcBef>
              <a:spcAft>
                <a:spcPts val="800"/>
              </a:spcAft>
              <a:buNone/>
            </a:pPr>
            <a:r>
              <a:rPr lang="en-US" sz="3000" dirty="0"/>
              <a:t>What if your needs change?</a:t>
            </a:r>
          </a:p>
          <a:p>
            <a:pPr marL="4233" lvl="1" indent="0">
              <a:buNone/>
            </a:pPr>
            <a:r>
              <a:rPr lang="en-US" sz="2600" dirty="0"/>
              <a:t>You have to go through the </a:t>
            </a:r>
            <a:r>
              <a:rPr lang="en-US" sz="2600" b="1"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time, effort, and cost</a:t>
            </a:r>
            <a:r>
              <a:rPr lang="en-US" sz="2600" b="1" dirty="0">
                <a:solidFill>
                  <a:srgbClr val="FF0000"/>
                </a:solidFill>
              </a:rPr>
              <a:t> </a:t>
            </a:r>
            <a:r>
              <a:rPr lang="en-US" sz="2600" dirty="0"/>
              <a:t>required to change all these.</a:t>
            </a:r>
          </a:p>
        </p:txBody>
      </p:sp>
      <p:pic>
        <p:nvPicPr>
          <p:cNvPr id="3" name="Picture 2"/>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48561" y="1591435"/>
            <a:ext cx="4585336" cy="3250500"/>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4225723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84668" y="333910"/>
            <a:ext cx="7845894" cy="1067079"/>
          </a:xfrm>
        </p:spPr>
        <p:txBody>
          <a:bodyPr/>
          <a:lstStyle/>
          <a:p>
            <a:r>
              <a:rPr lang="en-US" dirty="0"/>
              <a:t>Cloud Computing</a:t>
            </a:r>
          </a:p>
        </p:txBody>
      </p:sp>
      <p:sp>
        <p:nvSpPr>
          <p:cNvPr id="7" name="Content Placeholder 6"/>
          <p:cNvSpPr>
            <a:spLocks noGrp="1"/>
          </p:cNvSpPr>
          <p:nvPr>
            <p:ph idx="1"/>
          </p:nvPr>
        </p:nvSpPr>
        <p:spPr>
          <a:xfrm>
            <a:off x="449054" y="1786269"/>
            <a:ext cx="6987351" cy="5465852"/>
          </a:xfrm>
        </p:spPr>
        <p:txBody>
          <a:bodyPr>
            <a:normAutofit/>
          </a:bodyPr>
          <a:lstStyle/>
          <a:p>
            <a:pPr marL="0" indent="0">
              <a:buNone/>
            </a:pPr>
            <a:r>
              <a:rPr lang="en-US" sz="2800" kern="1200" dirty="0">
                <a:solidFill>
                  <a:schemeClr val="tx1"/>
                </a:solidFill>
                <a:effectLst/>
                <a:latin typeface="+mn-lt"/>
                <a:ea typeface="+mn-ea"/>
                <a:cs typeface="+mn-cs"/>
              </a:rPr>
              <a:t>With a cloud services provider like AWS, you don't have to anticipate your hardware needs ahead of time and then order, install, and set it up at your data center. You also don’t need to undergo a long procurement cycle. With a few clicks, you can provision exactly what you need-and it will be available to you in a few minutes. </a:t>
            </a:r>
          </a:p>
          <a:p>
            <a:pPr marL="457200" indent="-457200"/>
            <a:endParaRPr lang="en-US" sz="2600" dirty="0"/>
          </a:p>
        </p:txBody>
      </p:sp>
      <p:pic>
        <p:nvPicPr>
          <p:cNvPr id="2" name="Picture 1">
            <a:extLst>
              <a:ext uri="{FF2B5EF4-FFF2-40B4-BE49-F238E27FC236}">
                <a16:creationId xmlns:a16="http://schemas.microsoft.com/office/drawing/2014/main" id="{35E5FB9A-2194-3DD9-D546-3AB751BBF3C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929948" y="2013368"/>
            <a:ext cx="3964101" cy="2831264"/>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Tree>
    <p:custDataLst>
      <p:tags r:id="rId1"/>
    </p:custDataLst>
    <p:extLst>
      <p:ext uri="{BB962C8B-B14F-4D97-AF65-F5344CB8AC3E}">
        <p14:creationId xmlns:p14="http://schemas.microsoft.com/office/powerpoint/2010/main" val="2633865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49054" y="272265"/>
            <a:ext cx="7845894" cy="1067079"/>
          </a:xfrm>
        </p:spPr>
        <p:txBody>
          <a:bodyPr/>
          <a:lstStyle/>
          <a:p>
            <a:r>
              <a:rPr lang="en-US" dirty="0"/>
              <a:t>Cloud Computing</a:t>
            </a:r>
          </a:p>
        </p:txBody>
      </p:sp>
      <p:pic>
        <p:nvPicPr>
          <p:cNvPr id="2" name="Picture 1">
            <a:extLst>
              <a:ext uri="{FF2B5EF4-FFF2-40B4-BE49-F238E27FC236}">
                <a16:creationId xmlns:a16="http://schemas.microsoft.com/office/drawing/2014/main" id="{35E5FB9A-2194-3DD9-D546-3AB751BBF3C4}"/>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881420" y="2131520"/>
            <a:ext cx="3633246" cy="2594959"/>
          </a:xfrm>
          <a:prstGeom prst="rect">
            <a:avLst/>
          </a:prstGeom>
          <a:ln w="12700" cap="sq">
            <a:solidFill>
              <a:srgbClr val="000000"/>
            </a:solidFill>
            <a:prstDash val="solid"/>
            <a:miter lim="800000"/>
          </a:ln>
          <a:effectLst>
            <a:outerShdw blurRad="50800" dist="38100" dir="2700000" algn="tl" rotWithShape="0">
              <a:srgbClr val="000000">
                <a:alpha val="43000"/>
              </a:srgbClr>
            </a:outerShdw>
          </a:effectLst>
        </p:spPr>
      </p:pic>
      <p:sp>
        <p:nvSpPr>
          <p:cNvPr id="5" name="Content Placeholder 4">
            <a:extLst>
              <a:ext uri="{FF2B5EF4-FFF2-40B4-BE49-F238E27FC236}">
                <a16:creationId xmlns:a16="http://schemas.microsoft.com/office/drawing/2014/main" id="{01346C25-A0A9-A2B2-F7FD-8B881C5BAEE0}"/>
              </a:ext>
            </a:extLst>
          </p:cNvPr>
          <p:cNvSpPr>
            <a:spLocks noGrp="1"/>
          </p:cNvSpPr>
          <p:nvPr>
            <p:ph idx="1"/>
          </p:nvPr>
        </p:nvSpPr>
        <p:spPr/>
        <p:txBody>
          <a:bodyPr/>
          <a:lstStyle/>
          <a:p>
            <a:endParaRPr lang="en-US" dirty="0"/>
          </a:p>
        </p:txBody>
      </p:sp>
      <p:sp>
        <p:nvSpPr>
          <p:cNvPr id="8" name="TextBox 7">
            <a:extLst>
              <a:ext uri="{FF2B5EF4-FFF2-40B4-BE49-F238E27FC236}">
                <a16:creationId xmlns:a16="http://schemas.microsoft.com/office/drawing/2014/main" id="{08C59D00-FE51-FDB7-3654-48DED90C4A31}"/>
              </a:ext>
            </a:extLst>
          </p:cNvPr>
          <p:cNvSpPr txBox="1"/>
          <p:nvPr/>
        </p:nvSpPr>
        <p:spPr>
          <a:xfrm>
            <a:off x="181693" y="1517047"/>
            <a:ext cx="7318442" cy="4154984"/>
          </a:xfrm>
          <a:prstGeom prst="rect">
            <a:avLst/>
          </a:prstGeom>
          <a:noFill/>
        </p:spPr>
        <p:txBody>
          <a:bodyPr wrap="square">
            <a:spAutoFit/>
          </a:bodyPr>
          <a:lstStyle/>
          <a:p>
            <a:pPr marL="342900" indent="-342900">
              <a:buFont typeface="Wingdings" panose="05000000000000000000" pitchFamily="2" charset="2"/>
              <a:buChar char="ü"/>
            </a:pPr>
            <a:r>
              <a:rPr lang="en-US" sz="2400" kern="1200" dirty="0">
                <a:solidFill>
                  <a:schemeClr val="tx1"/>
                </a:solidFill>
                <a:effectLst/>
                <a:latin typeface="+mn-lt"/>
                <a:ea typeface="+mn-ea"/>
                <a:cs typeface="+mn-cs"/>
              </a:rPr>
              <a:t>That means you can provision and terminate resources as necessary on AWS, instead of paying for hardware when you’re not using it. You can treat resources as temporary and disposable resources, free from the inflexibility and constraints of a fixed and finite IT infrastructure. </a:t>
            </a:r>
          </a:p>
          <a:p>
            <a:r>
              <a:rPr lang="en-US" sz="2400" kern="1200" dirty="0">
                <a:solidFill>
                  <a:schemeClr val="tx1"/>
                </a:solidFill>
                <a:effectLst/>
                <a:latin typeface="+mn-lt"/>
                <a:ea typeface="+mn-ea"/>
                <a:cs typeface="+mn-cs"/>
              </a:rPr>
              <a:t> </a:t>
            </a:r>
          </a:p>
          <a:p>
            <a:pPr marL="342900" indent="-342900">
              <a:buFont typeface="Wingdings" panose="05000000000000000000" pitchFamily="2" charset="2"/>
              <a:buChar char="ü"/>
            </a:pPr>
            <a:r>
              <a:rPr lang="en-US" sz="2400" kern="1200" dirty="0">
                <a:solidFill>
                  <a:schemeClr val="tx1"/>
                </a:solidFill>
                <a:effectLst/>
                <a:latin typeface="+mn-lt"/>
                <a:ea typeface="+mn-ea"/>
                <a:cs typeface="+mn-cs"/>
              </a:rPr>
              <a:t>By harnessing the power of AWS, you can be more agile and efficient with change management, testing, reliability, and capacity planning.</a:t>
            </a:r>
          </a:p>
        </p:txBody>
      </p:sp>
    </p:spTree>
    <p:custDataLst>
      <p:tags r:id="rId1"/>
    </p:custDataLst>
    <p:extLst>
      <p:ext uri="{BB962C8B-B14F-4D97-AF65-F5344CB8AC3E}">
        <p14:creationId xmlns:p14="http://schemas.microsoft.com/office/powerpoint/2010/main" val="3278013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49054" y="272265"/>
            <a:ext cx="7845894" cy="1067079"/>
          </a:xfrm>
        </p:spPr>
        <p:txBody>
          <a:bodyPr/>
          <a:lstStyle/>
          <a:p>
            <a:r>
              <a:rPr lang="en-US" dirty="0"/>
              <a:t>Cloud Computing</a:t>
            </a:r>
          </a:p>
        </p:txBody>
      </p:sp>
      <p:pic>
        <p:nvPicPr>
          <p:cNvPr id="6" name="Picture 5">
            <a:extLst>
              <a:ext uri="{FF2B5EF4-FFF2-40B4-BE49-F238E27FC236}">
                <a16:creationId xmlns:a16="http://schemas.microsoft.com/office/drawing/2014/main" id="{273C6AAF-5926-2FFB-8C99-A91E90BC34B8}"/>
              </a:ext>
            </a:extLst>
          </p:cNvPr>
          <p:cNvPicPr>
            <a:picLocks noChangeAspect="1"/>
          </p:cNvPicPr>
          <p:nvPr/>
        </p:nvPicPr>
        <p:blipFill>
          <a:blip r:embed="rId4"/>
          <a:stretch>
            <a:fillRect/>
          </a:stretch>
        </p:blipFill>
        <p:spPr>
          <a:xfrm>
            <a:off x="977437" y="1779836"/>
            <a:ext cx="7524750" cy="3914775"/>
          </a:xfrm>
          <a:prstGeom prst="rect">
            <a:avLst/>
          </a:prstGeom>
        </p:spPr>
      </p:pic>
    </p:spTree>
    <p:custDataLst>
      <p:tags r:id="rId1"/>
    </p:custDataLst>
    <p:extLst>
      <p:ext uri="{BB962C8B-B14F-4D97-AF65-F5344CB8AC3E}">
        <p14:creationId xmlns:p14="http://schemas.microsoft.com/office/powerpoint/2010/main" val="3202951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Isosceles Triangle 17">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p:cNvSpPr>
            <a:spLocks noGrp="1"/>
          </p:cNvSpPr>
          <p:nvPr>
            <p:ph type="title"/>
          </p:nvPr>
        </p:nvSpPr>
        <p:spPr>
          <a:xfrm>
            <a:off x="1155494" y="5222996"/>
            <a:ext cx="8288032" cy="1096316"/>
          </a:xfrm>
        </p:spPr>
        <p:txBody>
          <a:bodyPr vert="horz" lIns="91440" tIns="45720" rIns="91440" bIns="45720" rtlCol="0" anchor="b">
            <a:normAutofit/>
          </a:bodyPr>
          <a:lstStyle/>
          <a:p>
            <a:pPr algn="ctr"/>
            <a:r>
              <a:rPr lang="en-US" sz="4400" kern="1200" dirty="0">
                <a:solidFill>
                  <a:schemeClr val="accent1"/>
                </a:solidFill>
                <a:latin typeface="+mj-lt"/>
                <a:ea typeface="+mj-ea"/>
                <a:cs typeface="+mj-cs"/>
              </a:rPr>
              <a:t>Cloud Deployment Models</a:t>
            </a:r>
          </a:p>
        </p:txBody>
      </p:sp>
      <p:pic>
        <p:nvPicPr>
          <p:cNvPr id="7" name="Picture 6" descr="A diagram of a cloud&#10;&#10;Description automatically generated">
            <a:extLst>
              <a:ext uri="{FF2B5EF4-FFF2-40B4-BE49-F238E27FC236}">
                <a16:creationId xmlns:a16="http://schemas.microsoft.com/office/drawing/2014/main" id="{21A482C6-AFE1-FC75-ED11-0D6E8F554A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110" y="1051384"/>
            <a:ext cx="9741081" cy="3672867"/>
          </a:xfrm>
          <a:prstGeom prst="rect">
            <a:avLst/>
          </a:prstGeom>
        </p:spPr>
      </p:pic>
    </p:spTree>
    <p:custDataLst>
      <p:tags r:id="rId1"/>
    </p:custDataLst>
    <p:extLst>
      <p:ext uri="{BB962C8B-B14F-4D97-AF65-F5344CB8AC3E}">
        <p14:creationId xmlns:p14="http://schemas.microsoft.com/office/powerpoint/2010/main" val="2163898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40" name="Straight Connector 39">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42"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Isosceles Triangle 43">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6"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Isosceles Triangle 47">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Isosceles Triangle 48">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51" name="Rectangle 50">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 name="Group 52">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54" name="Straight Connector 53">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5"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6"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7" name="Isosceles Triangle 56">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8"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9"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0"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 name="Isosceles Triangle 60">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2" name="Isosceles Triangle 61">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64" name="Rectangle 63">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405C547F-6E28-6241-243C-AE8B6273843F}"/>
              </a:ext>
            </a:extLst>
          </p:cNvPr>
          <p:cNvGraphicFramePr>
            <a:graphicFrameLocks noGrp="1"/>
          </p:cNvGraphicFramePr>
          <p:nvPr>
            <p:extLst>
              <p:ext uri="{D42A27DB-BD31-4B8C-83A1-F6EECF244321}">
                <p14:modId xmlns:p14="http://schemas.microsoft.com/office/powerpoint/2010/main" val="1104148430"/>
              </p:ext>
            </p:extLst>
          </p:nvPr>
        </p:nvGraphicFramePr>
        <p:xfrm>
          <a:off x="750013" y="739738"/>
          <a:ext cx="10839236" cy="5517222"/>
        </p:xfrm>
        <a:graphic>
          <a:graphicData uri="http://schemas.openxmlformats.org/drawingml/2006/table">
            <a:tbl>
              <a:tblPr firstRow="1" bandRow="1">
                <a:noFill/>
              </a:tblPr>
              <a:tblGrid>
                <a:gridCol w="1391868">
                  <a:extLst>
                    <a:ext uri="{9D8B030D-6E8A-4147-A177-3AD203B41FA5}">
                      <a16:colId xmlns:a16="http://schemas.microsoft.com/office/drawing/2014/main" val="2087362081"/>
                    </a:ext>
                  </a:extLst>
                </a:gridCol>
                <a:gridCol w="2828172">
                  <a:extLst>
                    <a:ext uri="{9D8B030D-6E8A-4147-A177-3AD203B41FA5}">
                      <a16:colId xmlns:a16="http://schemas.microsoft.com/office/drawing/2014/main" val="581415839"/>
                    </a:ext>
                  </a:extLst>
                </a:gridCol>
                <a:gridCol w="2812052">
                  <a:extLst>
                    <a:ext uri="{9D8B030D-6E8A-4147-A177-3AD203B41FA5}">
                      <a16:colId xmlns:a16="http://schemas.microsoft.com/office/drawing/2014/main" val="2388206200"/>
                    </a:ext>
                  </a:extLst>
                </a:gridCol>
                <a:gridCol w="3807144">
                  <a:extLst>
                    <a:ext uri="{9D8B030D-6E8A-4147-A177-3AD203B41FA5}">
                      <a16:colId xmlns:a16="http://schemas.microsoft.com/office/drawing/2014/main" val="4070553478"/>
                    </a:ext>
                  </a:extLst>
                </a:gridCol>
              </a:tblGrid>
              <a:tr h="508173">
                <a:tc>
                  <a:txBody>
                    <a:bodyPr/>
                    <a:lstStyle/>
                    <a:p>
                      <a:pPr algn="l" fontAlgn="base"/>
                      <a:r>
                        <a:rPr lang="en-US" sz="1500" b="1" cap="none" spc="30" dirty="0">
                          <a:solidFill>
                            <a:schemeClr val="tx1">
                              <a:lumMod val="75000"/>
                              <a:lumOff val="25000"/>
                            </a:schemeClr>
                          </a:solidFill>
                          <a:effectLst/>
                        </a:rPr>
                        <a:t>Factors</a:t>
                      </a:r>
                    </a:p>
                  </a:txBody>
                  <a:tcPr marL="154945" marR="116209" marT="77473" marB="77473"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lgn="ctr" fontAlgn="base"/>
                      <a:r>
                        <a:rPr lang="en-US" sz="1500" b="1" cap="none" spc="30" dirty="0">
                          <a:solidFill>
                            <a:schemeClr val="tx1">
                              <a:lumMod val="75000"/>
                              <a:lumOff val="25000"/>
                            </a:schemeClr>
                          </a:solidFill>
                          <a:effectLst/>
                        </a:rPr>
                        <a:t>Public Cloud</a:t>
                      </a:r>
                    </a:p>
                  </a:txBody>
                  <a:tcPr marL="154945" marR="116209" marT="77473" marB="77473"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lgn="ctr" fontAlgn="base"/>
                      <a:r>
                        <a:rPr lang="en-US" sz="1500" b="1" cap="none" spc="30" dirty="0">
                          <a:solidFill>
                            <a:schemeClr val="tx1">
                              <a:lumMod val="75000"/>
                              <a:lumOff val="25000"/>
                            </a:schemeClr>
                          </a:solidFill>
                          <a:effectLst/>
                        </a:rPr>
                        <a:t>Private Cloud</a:t>
                      </a:r>
                    </a:p>
                  </a:txBody>
                  <a:tcPr marL="154945" marR="116209" marT="77473" marB="77473"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lgn="ctr" fontAlgn="base"/>
                      <a:r>
                        <a:rPr lang="en-US" sz="1500" b="1" cap="none" spc="30" dirty="0">
                          <a:solidFill>
                            <a:schemeClr val="tx1">
                              <a:lumMod val="75000"/>
                              <a:lumOff val="25000"/>
                            </a:schemeClr>
                          </a:solidFill>
                          <a:effectLst/>
                        </a:rPr>
                        <a:t>Hybrid Cloud</a:t>
                      </a:r>
                    </a:p>
                  </a:txBody>
                  <a:tcPr marL="154945" marR="116209" marT="77473" marB="77473"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580986045"/>
                  </a:ext>
                </a:extLst>
              </a:tr>
              <a:tr h="633647">
                <a:tc>
                  <a:txBody>
                    <a:bodyPr/>
                    <a:lstStyle/>
                    <a:p>
                      <a:pPr algn="ctr" fontAlgn="ctr"/>
                      <a:r>
                        <a:rPr lang="en-US" sz="1100" b="1" cap="none" spc="0" dirty="0">
                          <a:solidFill>
                            <a:schemeClr val="tx1">
                              <a:lumMod val="75000"/>
                              <a:lumOff val="25000"/>
                            </a:schemeClr>
                          </a:solidFill>
                          <a:effectLst/>
                        </a:rPr>
                        <a:t>Resources</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dirty="0">
                          <a:solidFill>
                            <a:schemeClr val="tx1">
                              <a:lumMod val="75000"/>
                              <a:lumOff val="25000"/>
                            </a:schemeClr>
                          </a:solidFill>
                          <a:effectLst/>
                        </a:rPr>
                        <a:t>Resources are shared among multiple customers</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Resources are shared with a single organization</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It is a  combination of public and private clouds. based on the requirement.</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596485291"/>
                  </a:ext>
                </a:extLst>
              </a:tr>
              <a:tr h="633647">
                <a:tc>
                  <a:txBody>
                    <a:bodyPr/>
                    <a:lstStyle/>
                    <a:p>
                      <a:pPr algn="ctr" fontAlgn="ctr"/>
                      <a:r>
                        <a:rPr lang="en-US" sz="1100" b="1" cap="none" spc="0" dirty="0">
                          <a:solidFill>
                            <a:schemeClr val="tx1">
                              <a:lumMod val="75000"/>
                              <a:lumOff val="25000"/>
                            </a:schemeClr>
                          </a:solidFill>
                          <a:effectLst/>
                        </a:rPr>
                        <a:t>Tenancy</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Data of multiple organizations is stored in the public cloud</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Data of a single organization is stored in a clouds the public cloud</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dirty="0">
                          <a:solidFill>
                            <a:schemeClr val="tx1">
                              <a:lumMod val="75000"/>
                              <a:lumOff val="25000"/>
                            </a:schemeClr>
                          </a:solidFill>
                          <a:effectLst/>
                        </a:rPr>
                        <a:t>Data is stored in the public cloud, and provide security in the public cloud.</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864788589"/>
                  </a:ext>
                </a:extLst>
              </a:tr>
              <a:tr h="1041439">
                <a:tc>
                  <a:txBody>
                    <a:bodyPr/>
                    <a:lstStyle/>
                    <a:p>
                      <a:pPr algn="ctr" fontAlgn="ctr"/>
                      <a:r>
                        <a:rPr lang="en-US" sz="1100" b="1" cap="none" spc="0" dirty="0">
                          <a:solidFill>
                            <a:schemeClr val="tx1">
                              <a:lumMod val="75000"/>
                              <a:lumOff val="25000"/>
                            </a:schemeClr>
                          </a:solidFill>
                          <a:effectLst/>
                        </a:rPr>
                        <a:t>Pay Model</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Pay what you used</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Have a variety of pricing models</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It can include a mix of public cloud pay-as-you-go pricing, and private cloud fixed pricing. It has other pricing models such as consumption-based, subscription-based, etc.</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199217436"/>
                  </a:ext>
                </a:extLst>
              </a:tr>
              <a:tr h="429752">
                <a:tc>
                  <a:txBody>
                    <a:bodyPr/>
                    <a:lstStyle/>
                    <a:p>
                      <a:pPr algn="ctr" fontAlgn="ctr"/>
                      <a:r>
                        <a:rPr lang="en-US" sz="1100" b="1" cap="none" spc="0" dirty="0">
                          <a:solidFill>
                            <a:schemeClr val="tx1">
                              <a:lumMod val="75000"/>
                              <a:lumOff val="25000"/>
                            </a:schemeClr>
                          </a:solidFill>
                          <a:effectLst/>
                        </a:rPr>
                        <a:t>Operated by </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Third-party service provider</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Specific  organization </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Can be a combination of both</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707944364"/>
                  </a:ext>
                </a:extLst>
              </a:tr>
              <a:tr h="837544">
                <a:tc>
                  <a:txBody>
                    <a:bodyPr/>
                    <a:lstStyle/>
                    <a:p>
                      <a:pPr algn="ctr" fontAlgn="ctr"/>
                      <a:r>
                        <a:rPr lang="en-US" sz="1100" b="1" cap="none" spc="0" dirty="0">
                          <a:solidFill>
                            <a:schemeClr val="tx1">
                              <a:lumMod val="75000"/>
                              <a:lumOff val="25000"/>
                            </a:schemeClr>
                          </a:solidFill>
                          <a:effectLst/>
                        </a:rPr>
                        <a:t>Scalability and Flexibility</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It has more scalability and flexibility,</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dirty="0">
                          <a:solidFill>
                            <a:schemeClr val="tx1">
                              <a:lumMod val="75000"/>
                              <a:lumOff val="25000"/>
                            </a:schemeClr>
                          </a:solidFill>
                          <a:effectLst/>
                        </a:rPr>
                        <a:t>It has predictability and consistency</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It has scalability and flexibility by allowing organizations to use a combination of public and private cloud services.</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990881508"/>
                  </a:ext>
                </a:extLst>
              </a:tr>
              <a:tr h="837544">
                <a:tc>
                  <a:txBody>
                    <a:bodyPr/>
                    <a:lstStyle/>
                    <a:p>
                      <a:pPr algn="ctr" fontAlgn="ctr"/>
                      <a:r>
                        <a:rPr lang="en-US" sz="1100" b="1" cap="none" spc="0" dirty="0">
                          <a:solidFill>
                            <a:schemeClr val="tx1">
                              <a:lumMod val="75000"/>
                              <a:lumOff val="25000"/>
                            </a:schemeClr>
                          </a:solidFill>
                          <a:effectLst/>
                        </a:rPr>
                        <a:t>Expensive</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less expensive</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More expensive </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100" b="0" cap="none" spc="0">
                          <a:solidFill>
                            <a:schemeClr val="tx1">
                              <a:lumMod val="75000"/>
                              <a:lumOff val="25000"/>
                            </a:schemeClr>
                          </a:solidFill>
                          <a:effectLst/>
                        </a:rPr>
                        <a:t> Can be more expensive, but it can also be less expensive , depending on the specific needs and requirements of the organization.</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059943273"/>
                  </a:ext>
                </a:extLst>
              </a:tr>
              <a:tr h="595476">
                <a:tc>
                  <a:txBody>
                    <a:bodyPr/>
                    <a:lstStyle/>
                    <a:p>
                      <a:pPr algn="ctr" fontAlgn="ctr"/>
                      <a:r>
                        <a:rPr lang="en-US" sz="1100" b="1" cap="none" spc="0" dirty="0">
                          <a:solidFill>
                            <a:schemeClr val="tx1">
                              <a:lumMod val="75000"/>
                              <a:lumOff val="25000"/>
                            </a:schemeClr>
                          </a:solidFill>
                          <a:effectLst/>
                        </a:rPr>
                        <a:t>Availability</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lgn="ctr" fontAlgn="ctr"/>
                      <a:r>
                        <a:rPr lang="en-US" sz="1100" b="0" cap="none" spc="0">
                          <a:solidFill>
                            <a:schemeClr val="tx1">
                              <a:lumMod val="75000"/>
                              <a:lumOff val="25000"/>
                            </a:schemeClr>
                          </a:solidFill>
                          <a:effectLst/>
                        </a:rPr>
                        <a:t>The general public (over the internet)</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lgn="ctr" fontAlgn="ctr"/>
                      <a:r>
                        <a:rPr lang="en-US" sz="1100" b="0" cap="none" spc="0">
                          <a:solidFill>
                            <a:schemeClr val="tx1">
                              <a:lumMod val="75000"/>
                              <a:lumOff val="25000"/>
                            </a:schemeClr>
                          </a:solidFill>
                          <a:effectLst/>
                        </a:rPr>
                        <a:t>Restricted to a specific organization</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lgn="ctr" fontAlgn="ctr"/>
                      <a:r>
                        <a:rPr lang="en-US" sz="1100" b="0" cap="none" spc="0" dirty="0">
                          <a:solidFill>
                            <a:schemeClr val="tx1">
                              <a:lumMod val="75000"/>
                              <a:lumOff val="25000"/>
                            </a:schemeClr>
                          </a:solidFill>
                          <a:effectLst/>
                        </a:rPr>
                        <a:t>Can be a combination of both.</a:t>
                      </a:r>
                    </a:p>
                  </a:txBody>
                  <a:tcPr marL="154945" marR="116209" marT="77473" marB="77473" anchor="ctr">
                    <a:lnL w="12700" cmpd="sng">
                      <a:noFill/>
                      <a:prstDash val="solid"/>
                    </a:lnL>
                    <a:lnR w="12700" cmpd="sng">
                      <a:noFill/>
                      <a:prstDash val="solid"/>
                    </a:lnR>
                    <a:lnT w="9525" cap="flat" cmpd="sng" algn="ctr">
                      <a:solidFill>
                        <a:srgbClr val="C7C6C1"/>
                      </a:solidFill>
                      <a:prstDash val="solid"/>
                    </a:lnT>
                    <a:lnB w="12700" cmpd="sng">
                      <a:noFill/>
                      <a:prstDash val="solid"/>
                    </a:lnB>
                    <a:noFill/>
                  </a:tcPr>
                </a:tc>
                <a:extLst>
                  <a:ext uri="{0D108BD9-81ED-4DB2-BD59-A6C34878D82A}">
                    <a16:rowId xmlns:a16="http://schemas.microsoft.com/office/drawing/2014/main" val="1573032009"/>
                  </a:ext>
                </a:extLst>
              </a:tr>
            </a:tbl>
          </a:graphicData>
        </a:graphic>
      </p:graphicFrame>
    </p:spTree>
    <p:custDataLst>
      <p:tags r:id="rId1"/>
    </p:custDataLst>
    <p:extLst>
      <p:ext uri="{BB962C8B-B14F-4D97-AF65-F5344CB8AC3E}">
        <p14:creationId xmlns:p14="http://schemas.microsoft.com/office/powerpoint/2010/main" val="3544365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p:cNvSpPr>
            <a:spLocks noGrp="1"/>
          </p:cNvSpPr>
          <p:nvPr>
            <p:ph type="title"/>
          </p:nvPr>
        </p:nvSpPr>
        <p:spPr>
          <a:xfrm>
            <a:off x="985968" y="5375620"/>
            <a:ext cx="8288032" cy="1096316"/>
          </a:xfrm>
        </p:spPr>
        <p:txBody>
          <a:bodyPr vert="horz" lIns="91440" tIns="45720" rIns="91440" bIns="45720" rtlCol="0" anchor="b">
            <a:normAutofit/>
          </a:bodyPr>
          <a:lstStyle/>
          <a:p>
            <a:pPr algn="ctr"/>
            <a:r>
              <a:rPr lang="en-US" sz="4800" kern="1200" dirty="0">
                <a:solidFill>
                  <a:schemeClr val="accent1"/>
                </a:solidFill>
                <a:latin typeface="+mj-lt"/>
                <a:ea typeface="+mj-ea"/>
                <a:cs typeface="+mj-cs"/>
              </a:rPr>
              <a:t>Cloud Service Models</a:t>
            </a:r>
          </a:p>
        </p:txBody>
      </p:sp>
      <p:pic>
        <p:nvPicPr>
          <p:cNvPr id="3" name="Picture 2">
            <a:extLst>
              <a:ext uri="{FF2B5EF4-FFF2-40B4-BE49-F238E27FC236}">
                <a16:creationId xmlns:a16="http://schemas.microsoft.com/office/drawing/2014/main" id="{686A709D-A25B-8013-4E08-A46679779DF7}"/>
              </a:ext>
            </a:extLst>
          </p:cNvPr>
          <p:cNvPicPr>
            <a:picLocks noChangeAspect="1"/>
          </p:cNvPicPr>
          <p:nvPr/>
        </p:nvPicPr>
        <p:blipFill>
          <a:blip r:embed="rId4"/>
          <a:stretch>
            <a:fillRect/>
          </a:stretch>
        </p:blipFill>
        <p:spPr>
          <a:xfrm>
            <a:off x="1142803" y="926023"/>
            <a:ext cx="8161447" cy="4243953"/>
          </a:xfrm>
          <a:prstGeom prst="rect">
            <a:avLst/>
          </a:prstGeom>
        </p:spPr>
      </p:pic>
    </p:spTree>
    <p:custDataLst>
      <p:tags r:id="rId1"/>
    </p:custDataLst>
    <p:extLst>
      <p:ext uri="{BB962C8B-B14F-4D97-AF65-F5344CB8AC3E}">
        <p14:creationId xmlns:p14="http://schemas.microsoft.com/office/powerpoint/2010/main" val="2533442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p:cNvSpPr>
            <a:spLocks noGrp="1"/>
          </p:cNvSpPr>
          <p:nvPr>
            <p:ph type="title"/>
          </p:nvPr>
        </p:nvSpPr>
        <p:spPr>
          <a:xfrm>
            <a:off x="43875" y="0"/>
            <a:ext cx="8288032" cy="1096316"/>
          </a:xfrm>
        </p:spPr>
        <p:txBody>
          <a:bodyPr vert="horz" lIns="91440" tIns="45720" rIns="91440" bIns="45720" rtlCol="0" anchor="b">
            <a:normAutofit/>
          </a:bodyPr>
          <a:lstStyle/>
          <a:p>
            <a:pPr algn="ctr"/>
            <a:r>
              <a:rPr lang="en-US" sz="4800" dirty="0"/>
              <a:t>IaaS - </a:t>
            </a:r>
            <a:r>
              <a:rPr lang="en-US" sz="2800" dirty="0"/>
              <a:t>Infrastructure as a Service</a:t>
            </a:r>
            <a:endParaRPr lang="en-US" sz="4800" kern="1200" dirty="0">
              <a:solidFill>
                <a:schemeClr val="accent1"/>
              </a:solidFill>
              <a:latin typeface="+mj-lt"/>
              <a:ea typeface="+mj-ea"/>
              <a:cs typeface="+mj-cs"/>
            </a:endParaRPr>
          </a:p>
        </p:txBody>
      </p:sp>
      <p:sp>
        <p:nvSpPr>
          <p:cNvPr id="5" name="TextBox 4">
            <a:extLst>
              <a:ext uri="{FF2B5EF4-FFF2-40B4-BE49-F238E27FC236}">
                <a16:creationId xmlns:a16="http://schemas.microsoft.com/office/drawing/2014/main" id="{B88D2FFD-6663-DE7A-C80D-B1BE23F3AC67}"/>
              </a:ext>
            </a:extLst>
          </p:cNvPr>
          <p:cNvSpPr txBox="1"/>
          <p:nvPr/>
        </p:nvSpPr>
        <p:spPr>
          <a:xfrm>
            <a:off x="752264" y="1248451"/>
            <a:ext cx="9147760" cy="4154984"/>
          </a:xfrm>
          <a:prstGeom prst="rect">
            <a:avLst/>
          </a:prstGeom>
          <a:noFill/>
        </p:spPr>
        <p:txBody>
          <a:bodyPr wrap="square">
            <a:spAutoFit/>
          </a:bodyPr>
          <a:lstStyle/>
          <a:p>
            <a:endParaRPr lang="en-US" sz="2400" dirty="0"/>
          </a:p>
          <a:p>
            <a:pPr marL="342900" indent="-342900">
              <a:buFont typeface="Wingdings" panose="05000000000000000000" pitchFamily="2" charset="2"/>
              <a:buChar char="ü"/>
            </a:pPr>
            <a:r>
              <a:rPr lang="en-US" sz="2400" b="1" u="sng" dirty="0"/>
              <a:t>IaaS</a:t>
            </a:r>
            <a:r>
              <a:rPr lang="en-US" sz="2400" dirty="0"/>
              <a:t> vendors provide the whole infrastructure (virtual machines), which you can configure according to your needs. If you want to work on Linux machines, you can; if you want to work on the Windows machine, that is possible. Also, you will not have to worry about where the machine is located. You can rent as many virtual machines as you want and run your application in parallel.</a:t>
            </a:r>
          </a:p>
          <a:p>
            <a:endParaRPr lang="en-US" sz="2400" dirty="0"/>
          </a:p>
          <a:p>
            <a:r>
              <a:rPr lang="en-US" sz="2400" b="1" i="0" dirty="0">
                <a:solidFill>
                  <a:srgbClr val="273239"/>
                </a:solidFill>
                <a:effectLst/>
                <a:latin typeface="Nunito Sans" panose="020F0502020204030204" pitchFamily="2" charset="0"/>
              </a:rPr>
              <a:t>Example:</a:t>
            </a:r>
            <a:r>
              <a:rPr lang="en-US" sz="2400" b="0" i="0" dirty="0">
                <a:solidFill>
                  <a:srgbClr val="273239"/>
                </a:solidFill>
                <a:effectLst/>
                <a:latin typeface="Nunito Sans" panose="020F0502020204030204" pitchFamily="2" charset="0"/>
              </a:rPr>
              <a:t> Amazon EC2. The biggest and most famous IaaS vendor. </a:t>
            </a:r>
            <a:endParaRPr lang="en-US" sz="2400" dirty="0"/>
          </a:p>
        </p:txBody>
      </p:sp>
    </p:spTree>
    <p:custDataLst>
      <p:tags r:id="rId1"/>
    </p:custDataLst>
    <p:extLst>
      <p:ext uri="{BB962C8B-B14F-4D97-AF65-F5344CB8AC3E}">
        <p14:creationId xmlns:p14="http://schemas.microsoft.com/office/powerpoint/2010/main" val="3507311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p:cNvSpPr>
            <a:spLocks noGrp="1"/>
          </p:cNvSpPr>
          <p:nvPr>
            <p:ph type="title"/>
          </p:nvPr>
        </p:nvSpPr>
        <p:spPr>
          <a:xfrm>
            <a:off x="43875" y="0"/>
            <a:ext cx="8288032" cy="1096316"/>
          </a:xfrm>
        </p:spPr>
        <p:txBody>
          <a:bodyPr vert="horz" lIns="91440" tIns="45720" rIns="91440" bIns="45720" rtlCol="0" anchor="b">
            <a:normAutofit/>
          </a:bodyPr>
          <a:lstStyle/>
          <a:p>
            <a:pPr algn="ctr"/>
            <a:r>
              <a:rPr lang="en-US" sz="4800" dirty="0"/>
              <a:t>PaaS - </a:t>
            </a:r>
            <a:r>
              <a:rPr lang="en-US" sz="2800" dirty="0"/>
              <a:t>Platform as a Service</a:t>
            </a:r>
            <a:endParaRPr lang="en-US" sz="4800" kern="1200" dirty="0">
              <a:solidFill>
                <a:schemeClr val="accent1"/>
              </a:solidFill>
              <a:latin typeface="+mj-lt"/>
              <a:ea typeface="+mj-ea"/>
              <a:cs typeface="+mj-cs"/>
            </a:endParaRPr>
          </a:p>
        </p:txBody>
      </p:sp>
      <p:sp>
        <p:nvSpPr>
          <p:cNvPr id="5" name="TextBox 4">
            <a:extLst>
              <a:ext uri="{FF2B5EF4-FFF2-40B4-BE49-F238E27FC236}">
                <a16:creationId xmlns:a16="http://schemas.microsoft.com/office/drawing/2014/main" id="{B88D2FFD-6663-DE7A-C80D-B1BE23F3AC67}"/>
              </a:ext>
            </a:extLst>
          </p:cNvPr>
          <p:cNvSpPr txBox="1"/>
          <p:nvPr/>
        </p:nvSpPr>
        <p:spPr>
          <a:xfrm>
            <a:off x="620967" y="1495031"/>
            <a:ext cx="9616228" cy="4524315"/>
          </a:xfrm>
          <a:prstGeom prst="rect">
            <a:avLst/>
          </a:prstGeom>
          <a:noFill/>
        </p:spPr>
        <p:txBody>
          <a:bodyPr wrap="square">
            <a:spAutoFit/>
          </a:bodyPr>
          <a:lstStyle/>
          <a:p>
            <a:pPr marL="342900" indent="-342900">
              <a:buFont typeface="Wingdings" panose="05000000000000000000" pitchFamily="2" charset="2"/>
              <a:buChar char="ü"/>
            </a:pPr>
            <a:r>
              <a:rPr lang="en-US" sz="2400" b="1" dirty="0">
                <a:hlinkClick r:id="rId4">
                  <a:extLst>
                    <a:ext uri="{A12FA001-AC4F-418D-AE19-62706E023703}">
                      <ahyp:hlinkClr xmlns:ahyp="http://schemas.microsoft.com/office/drawing/2018/hyperlinkcolor" val="tx"/>
                    </a:ext>
                  </a:extLst>
                </a:hlinkClick>
              </a:rPr>
              <a:t>PaaS</a:t>
            </a:r>
            <a:r>
              <a:rPr lang="en-US" sz="2400" dirty="0"/>
              <a:t> stands for </a:t>
            </a:r>
            <a:r>
              <a:rPr lang="en-US" sz="2400" b="1" u="sng" dirty="0"/>
              <a:t>Platform as a Service</a:t>
            </a:r>
            <a:r>
              <a:rPr lang="en-US" sz="2400" dirty="0"/>
              <a:t>. The vendors provide their clients with a platform to deploy their applications without worrying about the storage and infrastructure.</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The application you develop and the data you use are the only things you can own in a PaaS environment. Underlying architecture, including storage infrastructure, runtime, servers, etc., everything is managed by the vendor.</a:t>
            </a:r>
          </a:p>
          <a:p>
            <a:endParaRPr lang="en-US" sz="2400" dirty="0"/>
          </a:p>
          <a:p>
            <a:r>
              <a:rPr lang="en-US" sz="2400" b="1" i="0" dirty="0">
                <a:solidFill>
                  <a:srgbClr val="273239"/>
                </a:solidFill>
                <a:effectLst/>
                <a:latin typeface="Nunito Sans" panose="020F0502020204030204" pitchFamily="2" charset="0"/>
              </a:rPr>
              <a:t>Example:</a:t>
            </a:r>
            <a:r>
              <a:rPr lang="en-US" sz="2400" b="0" i="0" dirty="0">
                <a:solidFill>
                  <a:srgbClr val="273239"/>
                </a:solidFill>
                <a:effectLst/>
                <a:latin typeface="Nunito Sans" pitchFamily="2" charset="0"/>
              </a:rPr>
              <a:t>  </a:t>
            </a:r>
            <a:r>
              <a:rPr lang="en-US" sz="2400" dirty="0"/>
              <a:t>Google App Engine. It allows you to develop and host your web applications in Google’s data centers. The App Engine requires the applications to be written in Java or Python.</a:t>
            </a:r>
          </a:p>
        </p:txBody>
      </p:sp>
    </p:spTree>
    <p:custDataLst>
      <p:tags r:id="rId1"/>
    </p:custDataLst>
    <p:extLst>
      <p:ext uri="{BB962C8B-B14F-4D97-AF65-F5344CB8AC3E}">
        <p14:creationId xmlns:p14="http://schemas.microsoft.com/office/powerpoint/2010/main" val="496164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5" name="Straight Connector 24">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p:cNvSpPr>
            <a:spLocks noGrp="1"/>
          </p:cNvSpPr>
          <p:nvPr>
            <p:ph type="title"/>
          </p:nvPr>
        </p:nvSpPr>
        <p:spPr>
          <a:xfrm>
            <a:off x="43875" y="0"/>
            <a:ext cx="8288032" cy="1096316"/>
          </a:xfrm>
        </p:spPr>
        <p:txBody>
          <a:bodyPr vert="horz" lIns="91440" tIns="45720" rIns="91440" bIns="45720" rtlCol="0" anchor="b">
            <a:normAutofit/>
          </a:bodyPr>
          <a:lstStyle/>
          <a:p>
            <a:pPr algn="ctr"/>
            <a:r>
              <a:rPr lang="en-US" sz="4800" dirty="0"/>
              <a:t>SaaS - </a:t>
            </a:r>
            <a:r>
              <a:rPr lang="en-US" sz="2800" dirty="0"/>
              <a:t>Software as a Service</a:t>
            </a:r>
            <a:endParaRPr lang="en-US" sz="4800" kern="1200" dirty="0">
              <a:solidFill>
                <a:schemeClr val="accent1"/>
              </a:solidFill>
              <a:latin typeface="+mj-lt"/>
              <a:ea typeface="+mj-ea"/>
              <a:cs typeface="+mj-cs"/>
            </a:endParaRPr>
          </a:p>
        </p:txBody>
      </p:sp>
      <p:sp>
        <p:nvSpPr>
          <p:cNvPr id="5" name="TextBox 4">
            <a:extLst>
              <a:ext uri="{FF2B5EF4-FFF2-40B4-BE49-F238E27FC236}">
                <a16:creationId xmlns:a16="http://schemas.microsoft.com/office/drawing/2014/main" id="{B88D2FFD-6663-DE7A-C80D-B1BE23F3AC67}"/>
              </a:ext>
            </a:extLst>
          </p:cNvPr>
          <p:cNvSpPr txBox="1"/>
          <p:nvPr/>
        </p:nvSpPr>
        <p:spPr>
          <a:xfrm>
            <a:off x="620967" y="1495031"/>
            <a:ext cx="9616228" cy="4524315"/>
          </a:xfrm>
          <a:prstGeom prst="rect">
            <a:avLst/>
          </a:prstGeom>
          <a:noFill/>
        </p:spPr>
        <p:txBody>
          <a:bodyPr wrap="square">
            <a:spAutoFit/>
          </a:bodyPr>
          <a:lstStyle/>
          <a:p>
            <a:pPr marL="342900" indent="-342900" algn="l">
              <a:buFont typeface="Wingdings" panose="05000000000000000000" pitchFamily="2" charset="2"/>
              <a:buChar char="ü"/>
            </a:pPr>
            <a:r>
              <a:rPr lang="en-US" sz="2400" b="1" u="sng" dirty="0"/>
              <a:t>SaaS</a:t>
            </a:r>
            <a:r>
              <a:rPr lang="en-US" sz="2400" dirty="0"/>
              <a:t> stands for </a:t>
            </a:r>
            <a:r>
              <a:rPr lang="en-US" sz="2400" b="1" u="sng" dirty="0"/>
              <a:t>Software as a Service</a:t>
            </a:r>
            <a:r>
              <a:rPr lang="en-US" sz="2400" dirty="0"/>
              <a:t>, in which the vendors let the clients use the application they’ve built. The clients then are charged for using the application. To access the application, all the client needs is an internet connection, a web browser.</a:t>
            </a:r>
          </a:p>
          <a:p>
            <a:pPr marL="342900" indent="-342900">
              <a:buFont typeface="Wingdings" panose="05000000000000000000" pitchFamily="2" charset="2"/>
              <a:buChar char="ü"/>
            </a:pPr>
            <a:endParaRPr lang="en-US" sz="2400" dirty="0"/>
          </a:p>
          <a:p>
            <a:pPr marL="342900" indent="-342900">
              <a:buFont typeface="Wingdings" panose="05000000000000000000" pitchFamily="2" charset="2"/>
              <a:buChar char="ü"/>
            </a:pPr>
            <a:r>
              <a:rPr lang="en-US" sz="2400" dirty="0"/>
              <a:t>In SaaS, everything is managed by the vendor. The platform, data, servers, storage, networking, etc. SaaS does not require any installations or downloads in your existing system. This makes it easier for clients to use the software without having to worry about its maintenance or updates.</a:t>
            </a:r>
          </a:p>
          <a:p>
            <a:endParaRPr lang="en-US" sz="2400" dirty="0"/>
          </a:p>
          <a:p>
            <a:r>
              <a:rPr lang="en-US" sz="2400" b="1" i="0" dirty="0">
                <a:solidFill>
                  <a:srgbClr val="273239"/>
                </a:solidFill>
                <a:effectLst/>
                <a:latin typeface="Nunito Sans" panose="020F0502020204030204" pitchFamily="2" charset="0"/>
              </a:rPr>
              <a:t>Example:</a:t>
            </a:r>
            <a:r>
              <a:rPr lang="en-US" sz="2400" b="0" i="0" dirty="0">
                <a:solidFill>
                  <a:srgbClr val="273239"/>
                </a:solidFill>
                <a:effectLst/>
                <a:latin typeface="Nunito Sans" pitchFamily="2" charset="0"/>
              </a:rPr>
              <a:t>  </a:t>
            </a:r>
            <a:r>
              <a:rPr lang="en-US" sz="2400" dirty="0"/>
              <a:t>Cloud-based Microsoft Office 365, Dropbox etc.</a:t>
            </a:r>
          </a:p>
        </p:txBody>
      </p:sp>
    </p:spTree>
    <p:custDataLst>
      <p:tags r:id="rId1"/>
    </p:custDataLst>
    <p:extLst>
      <p:ext uri="{BB962C8B-B14F-4D97-AF65-F5344CB8AC3E}">
        <p14:creationId xmlns:p14="http://schemas.microsoft.com/office/powerpoint/2010/main" val="3875664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Azure Fundamental: IaaS, PaaS, SaaS | by Jiadong Chen | The Programmer In  Kiwiland | Medium">
            <a:extLst>
              <a:ext uri="{FF2B5EF4-FFF2-40B4-BE49-F238E27FC236}">
                <a16:creationId xmlns:a16="http://schemas.microsoft.com/office/drawing/2014/main" id="{EC8BC24F-802D-D8B5-24D3-736199368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863" y="276225"/>
            <a:ext cx="11344275" cy="630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3141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DE2C1-63C0-B0D0-AE92-43AC7E90FE5E}"/>
              </a:ext>
            </a:extLst>
          </p:cNvPr>
          <p:cNvSpPr>
            <a:spLocks noGrp="1"/>
          </p:cNvSpPr>
          <p:nvPr>
            <p:ph type="title"/>
          </p:nvPr>
        </p:nvSpPr>
        <p:spPr>
          <a:xfrm>
            <a:off x="598703" y="169208"/>
            <a:ext cx="8596668" cy="1320800"/>
          </a:xfrm>
        </p:spPr>
        <p:txBody>
          <a:bodyPr/>
          <a:lstStyle/>
          <a:p>
            <a:r>
              <a:rPr lang="en-US" dirty="0"/>
              <a:t>AWS Global Infrastructure</a:t>
            </a:r>
          </a:p>
        </p:txBody>
      </p:sp>
      <p:sp>
        <p:nvSpPr>
          <p:cNvPr id="5" name="TextBox 4">
            <a:extLst>
              <a:ext uri="{FF2B5EF4-FFF2-40B4-BE49-F238E27FC236}">
                <a16:creationId xmlns:a16="http://schemas.microsoft.com/office/drawing/2014/main" id="{DE33635E-84AC-0E56-DB71-66CE73CB78B3}"/>
              </a:ext>
            </a:extLst>
          </p:cNvPr>
          <p:cNvSpPr txBox="1"/>
          <p:nvPr/>
        </p:nvSpPr>
        <p:spPr>
          <a:xfrm>
            <a:off x="451270" y="1490008"/>
            <a:ext cx="9463259" cy="1938992"/>
          </a:xfrm>
          <a:prstGeom prst="rect">
            <a:avLst/>
          </a:prstGeom>
          <a:noFill/>
        </p:spPr>
        <p:txBody>
          <a:bodyPr wrap="square">
            <a:spAutoFit/>
          </a:bodyPr>
          <a:lstStyle/>
          <a:p>
            <a:pPr marL="285750" indent="-285750">
              <a:buFont typeface="Wingdings" panose="05000000000000000000" pitchFamily="2" charset="2"/>
              <a:buChar char="ü"/>
            </a:pPr>
            <a:r>
              <a:rPr lang="en-US" sz="2400" b="0" i="0" dirty="0">
                <a:solidFill>
                  <a:srgbClr val="242424"/>
                </a:solidFill>
                <a:effectLst/>
                <a:latin typeface="source-serif-pro"/>
              </a:rPr>
              <a:t>The AWS Global Infrastructure is designed and built to deliver a</a:t>
            </a:r>
            <a:r>
              <a:rPr lang="en-US" sz="2400" b="1" i="0" dirty="0">
                <a:solidFill>
                  <a:srgbClr val="242424"/>
                </a:solidFill>
                <a:effectLst/>
                <a:latin typeface="source-serif-pro"/>
              </a:rPr>
              <a:t> flexible, reliable, scalable,</a:t>
            </a:r>
            <a:r>
              <a:rPr lang="en-US" sz="2400" b="0" i="0" dirty="0">
                <a:solidFill>
                  <a:srgbClr val="242424"/>
                </a:solidFill>
                <a:effectLst/>
                <a:latin typeface="source-serif-pro"/>
              </a:rPr>
              <a:t> and </a:t>
            </a:r>
            <a:r>
              <a:rPr lang="en-US" sz="2400" b="1" i="0" dirty="0">
                <a:solidFill>
                  <a:srgbClr val="242424"/>
                </a:solidFill>
                <a:effectLst/>
                <a:latin typeface="source-serif-pro"/>
              </a:rPr>
              <a:t>secure </a:t>
            </a:r>
            <a:r>
              <a:rPr lang="en-US" sz="2400" b="0" i="0" dirty="0">
                <a:solidFill>
                  <a:srgbClr val="242424"/>
                </a:solidFill>
                <a:effectLst/>
                <a:latin typeface="source-serif-pro"/>
              </a:rPr>
              <a:t>cloud computing environment with high-quality</a:t>
            </a:r>
            <a:r>
              <a:rPr lang="en-US" sz="2400" b="1" i="0" dirty="0">
                <a:solidFill>
                  <a:srgbClr val="242424"/>
                </a:solidFill>
                <a:effectLst/>
                <a:latin typeface="source-serif-pro"/>
              </a:rPr>
              <a:t> global network performance.</a:t>
            </a:r>
          </a:p>
          <a:p>
            <a:endParaRPr lang="en-US" sz="2400" b="1" i="0" dirty="0">
              <a:solidFill>
                <a:srgbClr val="242424"/>
              </a:solidFill>
              <a:effectLst/>
              <a:latin typeface="source-serif-pro"/>
            </a:endParaRPr>
          </a:p>
          <a:p>
            <a:pPr marL="342900" indent="-342900">
              <a:buFont typeface="Wingdings" panose="05000000000000000000" pitchFamily="2" charset="2"/>
              <a:buChar char="ü"/>
            </a:pPr>
            <a:r>
              <a:rPr lang="en-US" sz="2400" dirty="0">
                <a:solidFill>
                  <a:srgbClr val="242424"/>
                </a:solidFill>
                <a:latin typeface="source-serif-pro"/>
              </a:rPr>
              <a:t>https://aws.amazon.com/about-aws/global-infrastructure/</a:t>
            </a:r>
          </a:p>
        </p:txBody>
      </p:sp>
      <p:pic>
        <p:nvPicPr>
          <p:cNvPr id="4098" name="Picture 2">
            <a:extLst>
              <a:ext uri="{FF2B5EF4-FFF2-40B4-BE49-F238E27FC236}">
                <a16:creationId xmlns:a16="http://schemas.microsoft.com/office/drawing/2014/main" id="{B0C9A9A8-4CAB-CF71-1FDE-F53350C282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495" y="3526818"/>
            <a:ext cx="8024941"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7595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0EE7333-FCA9-4A25-8E42-8C9533848AD9}"/>
              </a:ext>
            </a:extLst>
          </p:cNvPr>
          <p:cNvSpPr txBox="1"/>
          <p:nvPr/>
        </p:nvSpPr>
        <p:spPr>
          <a:xfrm>
            <a:off x="1140431" y="680783"/>
            <a:ext cx="9390579" cy="5632311"/>
          </a:xfrm>
          <a:prstGeom prst="rect">
            <a:avLst/>
          </a:prstGeom>
          <a:noFill/>
        </p:spPr>
        <p:txBody>
          <a:bodyPr wrap="square">
            <a:spAutoFit/>
          </a:bodyPr>
          <a:lstStyle/>
          <a:p>
            <a:pPr algn="l"/>
            <a:r>
              <a:rPr lang="en-US" sz="2400" b="1" i="0" u="sng" dirty="0">
                <a:solidFill>
                  <a:srgbClr val="242424"/>
                </a:solidFill>
                <a:effectLst/>
                <a:latin typeface="sohne"/>
              </a:rPr>
              <a:t>Region</a:t>
            </a:r>
          </a:p>
          <a:p>
            <a:pPr algn="l"/>
            <a:r>
              <a:rPr lang="en-US" sz="2400" b="0" i="0" dirty="0">
                <a:solidFill>
                  <a:srgbClr val="242424"/>
                </a:solidFill>
                <a:effectLst/>
                <a:latin typeface="source-serif-pro"/>
              </a:rPr>
              <a:t>AWS Regions are </a:t>
            </a:r>
            <a:r>
              <a:rPr lang="en-US" sz="2400" b="1" i="1" dirty="0">
                <a:solidFill>
                  <a:srgbClr val="242424"/>
                </a:solidFill>
                <a:effectLst/>
                <a:latin typeface="source-serif-pro"/>
              </a:rPr>
              <a:t>geographical areas </a:t>
            </a:r>
            <a:r>
              <a:rPr lang="en-US" sz="2400" b="0" i="0" dirty="0">
                <a:solidFill>
                  <a:srgbClr val="242424"/>
                </a:solidFill>
                <a:effectLst/>
                <a:latin typeface="source-serif-pro"/>
              </a:rPr>
              <a:t>where Amazon Web Services (AWS) operates </a:t>
            </a:r>
            <a:r>
              <a:rPr lang="en-US" sz="2400" b="1" i="1" dirty="0">
                <a:solidFill>
                  <a:srgbClr val="242424"/>
                </a:solidFill>
                <a:effectLst/>
                <a:latin typeface="source-serif-pro"/>
              </a:rPr>
              <a:t>data centers.</a:t>
            </a:r>
          </a:p>
          <a:p>
            <a:pPr algn="l"/>
            <a:endParaRPr lang="en-US" sz="2400" b="0" i="0" dirty="0">
              <a:solidFill>
                <a:srgbClr val="242424"/>
              </a:solidFill>
              <a:effectLst/>
              <a:latin typeface="source-serif-pro"/>
            </a:endParaRPr>
          </a:p>
          <a:p>
            <a:pPr algn="l"/>
            <a:r>
              <a:rPr lang="en-US" sz="2400" b="0" i="0" dirty="0">
                <a:solidFill>
                  <a:srgbClr val="242424"/>
                </a:solidFill>
                <a:effectLst/>
                <a:latin typeface="source-serif-pro"/>
              </a:rPr>
              <a:t>They are designed to provide </a:t>
            </a:r>
            <a:r>
              <a:rPr lang="en-US" sz="2400" b="1" i="1" dirty="0">
                <a:solidFill>
                  <a:srgbClr val="242424"/>
                </a:solidFill>
                <a:effectLst/>
                <a:latin typeface="source-serif-pro"/>
              </a:rPr>
              <a:t>redundancy</a:t>
            </a:r>
            <a:r>
              <a:rPr lang="en-US" sz="2400" b="0" i="0" dirty="0">
                <a:solidFill>
                  <a:srgbClr val="242424"/>
                </a:solidFill>
                <a:effectLst/>
                <a:latin typeface="source-serif-pro"/>
              </a:rPr>
              <a:t> and </a:t>
            </a:r>
            <a:r>
              <a:rPr lang="en-US" sz="2400" b="1" i="1" dirty="0">
                <a:solidFill>
                  <a:srgbClr val="242424"/>
                </a:solidFill>
                <a:effectLst/>
                <a:latin typeface="source-serif-pro"/>
              </a:rPr>
              <a:t>high availability.</a:t>
            </a:r>
            <a:endParaRPr lang="en-US" sz="2400" b="0" i="0" dirty="0">
              <a:solidFill>
                <a:srgbClr val="242424"/>
              </a:solidFill>
              <a:effectLst/>
              <a:latin typeface="source-serif-pro"/>
            </a:endParaRPr>
          </a:p>
          <a:p>
            <a:pPr algn="l"/>
            <a:r>
              <a:rPr lang="en-US" sz="2400" b="0" i="0" dirty="0">
                <a:solidFill>
                  <a:srgbClr val="242424"/>
                </a:solidFill>
                <a:effectLst/>
                <a:latin typeface="source-serif-pro"/>
              </a:rPr>
              <a:t>A Region typically consists of </a:t>
            </a:r>
            <a:r>
              <a:rPr lang="en-US" sz="2400" b="1" i="1" dirty="0">
                <a:solidFill>
                  <a:srgbClr val="242424"/>
                </a:solidFill>
                <a:effectLst/>
                <a:latin typeface="source-serif-pro"/>
              </a:rPr>
              <a:t>two or more Availability Zones.</a:t>
            </a:r>
          </a:p>
          <a:p>
            <a:pPr algn="l">
              <a:buFont typeface="Arial" panose="020B0604020202020204" pitchFamily="34" charset="0"/>
              <a:buChar char="•"/>
            </a:pPr>
            <a:endParaRPr lang="en-US" sz="2400" b="0" i="0" dirty="0">
              <a:solidFill>
                <a:srgbClr val="242424"/>
              </a:solidFill>
              <a:effectLst/>
              <a:latin typeface="source-serif-pro"/>
            </a:endParaRPr>
          </a:p>
          <a:p>
            <a:pPr algn="l"/>
            <a:r>
              <a:rPr lang="en-US" sz="2400" b="1" i="0" u="sng" dirty="0">
                <a:solidFill>
                  <a:srgbClr val="242424"/>
                </a:solidFill>
                <a:effectLst/>
                <a:latin typeface="sohne"/>
              </a:rPr>
              <a:t>Availability Zones</a:t>
            </a:r>
          </a:p>
          <a:p>
            <a:pPr algn="l"/>
            <a:r>
              <a:rPr lang="en-US" sz="2400" b="0" i="0" dirty="0">
                <a:solidFill>
                  <a:srgbClr val="242424"/>
                </a:solidFill>
                <a:effectLst/>
                <a:latin typeface="source-serif-pro"/>
              </a:rPr>
              <a:t>Each Availability Zone is a fully isolated partition of the AWS infrastructure.</a:t>
            </a:r>
          </a:p>
          <a:p>
            <a:pPr algn="l"/>
            <a:endParaRPr lang="en-US" sz="2400" b="0" i="0" dirty="0">
              <a:solidFill>
                <a:srgbClr val="242424"/>
              </a:solidFill>
              <a:effectLst/>
              <a:latin typeface="source-serif-pro"/>
            </a:endParaRPr>
          </a:p>
          <a:p>
            <a:pPr algn="l">
              <a:buFont typeface="Arial" panose="020B0604020202020204" pitchFamily="34" charset="0"/>
              <a:buChar char="•"/>
            </a:pPr>
            <a:r>
              <a:rPr lang="en-US" sz="2400" b="0" i="0" dirty="0">
                <a:solidFill>
                  <a:srgbClr val="242424"/>
                </a:solidFill>
                <a:effectLst/>
                <a:latin typeface="source-serif-pro"/>
              </a:rPr>
              <a:t>Availability Zones consist of </a:t>
            </a:r>
            <a:r>
              <a:rPr lang="en-US" sz="2400" b="1" i="1" dirty="0">
                <a:solidFill>
                  <a:srgbClr val="242424"/>
                </a:solidFill>
                <a:effectLst/>
                <a:latin typeface="source-serif-pro"/>
              </a:rPr>
              <a:t>discrete data centers.</a:t>
            </a:r>
            <a:endParaRPr lang="en-US" sz="2400" b="0" i="0" dirty="0">
              <a:solidFill>
                <a:srgbClr val="242424"/>
              </a:solidFill>
              <a:effectLst/>
              <a:latin typeface="source-serif-pro"/>
            </a:endParaRPr>
          </a:p>
          <a:p>
            <a:pPr algn="l">
              <a:buFont typeface="Arial" panose="020B0604020202020204" pitchFamily="34" charset="0"/>
              <a:buChar char="•"/>
            </a:pPr>
            <a:r>
              <a:rPr lang="en-US" sz="2400" b="0" i="0" dirty="0">
                <a:solidFill>
                  <a:srgbClr val="242424"/>
                </a:solidFill>
                <a:effectLst/>
                <a:latin typeface="source-serif-pro"/>
              </a:rPr>
              <a:t>They are designed for </a:t>
            </a:r>
            <a:r>
              <a:rPr lang="en-US" sz="2400" b="1" i="1" dirty="0">
                <a:solidFill>
                  <a:srgbClr val="242424"/>
                </a:solidFill>
                <a:effectLst/>
                <a:latin typeface="source-serif-pro"/>
              </a:rPr>
              <a:t>fault isolation.</a:t>
            </a:r>
            <a:endParaRPr lang="en-US" sz="2400" b="0" i="0" dirty="0">
              <a:solidFill>
                <a:srgbClr val="242424"/>
              </a:solidFill>
              <a:effectLst/>
              <a:latin typeface="source-serif-pro"/>
            </a:endParaRPr>
          </a:p>
          <a:p>
            <a:pPr algn="l">
              <a:buFont typeface="Arial" panose="020B0604020202020204" pitchFamily="34" charset="0"/>
              <a:buChar char="•"/>
            </a:pPr>
            <a:r>
              <a:rPr lang="en-US" sz="2400" b="0" i="0" dirty="0">
                <a:solidFill>
                  <a:srgbClr val="242424"/>
                </a:solidFill>
                <a:effectLst/>
                <a:latin typeface="source-serif-pro"/>
              </a:rPr>
              <a:t>They are interconnected with other Availability Zones by using </a:t>
            </a:r>
            <a:r>
              <a:rPr lang="en-US" sz="2400" b="1" i="1" dirty="0">
                <a:solidFill>
                  <a:srgbClr val="242424"/>
                </a:solidFill>
                <a:effectLst/>
                <a:latin typeface="source-serif-pro"/>
              </a:rPr>
              <a:t>high-speed private networking.</a:t>
            </a:r>
            <a:endParaRPr lang="en-US" sz="2400" b="0" i="0" dirty="0">
              <a:solidFill>
                <a:srgbClr val="242424"/>
              </a:solidFill>
              <a:effectLst/>
              <a:latin typeface="source-serif-pro"/>
            </a:endParaRPr>
          </a:p>
        </p:txBody>
      </p:sp>
    </p:spTree>
    <p:extLst>
      <p:ext uri="{BB962C8B-B14F-4D97-AF65-F5344CB8AC3E}">
        <p14:creationId xmlns:p14="http://schemas.microsoft.com/office/powerpoint/2010/main" val="727935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DE2C1-63C0-B0D0-AE92-43AC7E90FE5E}"/>
              </a:ext>
            </a:extLst>
          </p:cNvPr>
          <p:cNvSpPr>
            <a:spLocks noGrp="1"/>
          </p:cNvSpPr>
          <p:nvPr>
            <p:ph type="title"/>
          </p:nvPr>
        </p:nvSpPr>
        <p:spPr>
          <a:xfrm>
            <a:off x="598703" y="169208"/>
            <a:ext cx="8596668" cy="1320800"/>
          </a:xfrm>
        </p:spPr>
        <p:txBody>
          <a:bodyPr/>
          <a:lstStyle/>
          <a:p>
            <a:r>
              <a:rPr lang="en-US" dirty="0"/>
              <a:t>AWS Networking – VPC and Subnets</a:t>
            </a:r>
          </a:p>
        </p:txBody>
      </p:sp>
      <p:sp>
        <p:nvSpPr>
          <p:cNvPr id="4" name="TextBox 3">
            <a:extLst>
              <a:ext uri="{FF2B5EF4-FFF2-40B4-BE49-F238E27FC236}">
                <a16:creationId xmlns:a16="http://schemas.microsoft.com/office/drawing/2014/main" id="{EDAF3B65-716B-171F-7356-CBA5B61624E6}"/>
              </a:ext>
            </a:extLst>
          </p:cNvPr>
          <p:cNvSpPr txBox="1"/>
          <p:nvPr/>
        </p:nvSpPr>
        <p:spPr>
          <a:xfrm>
            <a:off x="598702" y="1305892"/>
            <a:ext cx="8781603" cy="1938992"/>
          </a:xfrm>
          <a:prstGeom prst="rect">
            <a:avLst/>
          </a:prstGeom>
          <a:noFill/>
        </p:spPr>
        <p:txBody>
          <a:bodyPr wrap="square">
            <a:spAutoFit/>
          </a:bodyPr>
          <a:lstStyle/>
          <a:p>
            <a:pPr marL="285750" indent="-285750">
              <a:buFont typeface="Wingdings" panose="05000000000000000000" pitchFamily="2" charset="2"/>
              <a:buChar char="ü"/>
            </a:pPr>
            <a:r>
              <a:rPr lang="en-US" sz="2400" b="0" i="0" dirty="0">
                <a:solidFill>
                  <a:srgbClr val="16191F"/>
                </a:solidFill>
                <a:effectLst/>
                <a:latin typeface="Amazon Ember" panose="020B0603020204020204"/>
              </a:rPr>
              <a:t> With Amazon </a:t>
            </a:r>
            <a:r>
              <a:rPr lang="en-US" sz="2400" b="1" i="0" u="sng" dirty="0">
                <a:solidFill>
                  <a:srgbClr val="16191F"/>
                </a:solidFill>
                <a:effectLst/>
                <a:latin typeface="Amazon Ember" panose="020B0603020204020204"/>
              </a:rPr>
              <a:t>Virtual Private Cloud </a:t>
            </a:r>
            <a:r>
              <a:rPr lang="en-US" sz="2400" b="0" i="0" dirty="0">
                <a:solidFill>
                  <a:srgbClr val="16191F"/>
                </a:solidFill>
                <a:effectLst/>
                <a:latin typeface="Amazon Ember" panose="020B0603020204020204"/>
              </a:rPr>
              <a:t>(Amazon VPC), you can launch AWS resources in a </a:t>
            </a:r>
            <a:r>
              <a:rPr lang="en-US" sz="2400" b="1" i="0" u="sng" dirty="0">
                <a:solidFill>
                  <a:srgbClr val="16191F"/>
                </a:solidFill>
                <a:effectLst/>
                <a:latin typeface="Amazon Ember" panose="020B0603020204020204"/>
              </a:rPr>
              <a:t>logically isolated </a:t>
            </a:r>
            <a:r>
              <a:rPr lang="en-US" sz="2400" b="0" i="0" dirty="0">
                <a:solidFill>
                  <a:srgbClr val="16191F"/>
                </a:solidFill>
                <a:effectLst/>
                <a:latin typeface="Amazon Ember" panose="020B0603020204020204"/>
              </a:rPr>
              <a:t>virtual network that you've defined. This virtual network closely resembles a traditional network that you'd operate in your own data center, with the benefits of using the scalable infrastructure of AWS.</a:t>
            </a:r>
            <a:endParaRPr lang="en-US" sz="2400" dirty="0"/>
          </a:p>
        </p:txBody>
      </p:sp>
      <p:sp>
        <p:nvSpPr>
          <p:cNvPr id="7" name="TextBox 6">
            <a:extLst>
              <a:ext uri="{FF2B5EF4-FFF2-40B4-BE49-F238E27FC236}">
                <a16:creationId xmlns:a16="http://schemas.microsoft.com/office/drawing/2014/main" id="{C8B3D411-4E6D-B9F9-BCC4-DADACAF777CA}"/>
              </a:ext>
            </a:extLst>
          </p:cNvPr>
          <p:cNvSpPr txBox="1"/>
          <p:nvPr/>
        </p:nvSpPr>
        <p:spPr>
          <a:xfrm>
            <a:off x="598702" y="3919903"/>
            <a:ext cx="8887145" cy="1200329"/>
          </a:xfrm>
          <a:prstGeom prst="rect">
            <a:avLst/>
          </a:prstGeom>
          <a:noFill/>
        </p:spPr>
        <p:txBody>
          <a:bodyPr wrap="square">
            <a:spAutoFit/>
          </a:bodyPr>
          <a:lstStyle/>
          <a:p>
            <a:pPr marL="342900" indent="-342900">
              <a:buFont typeface="Wingdings" panose="05000000000000000000" pitchFamily="2" charset="2"/>
              <a:buChar char="ü"/>
            </a:pPr>
            <a:r>
              <a:rPr lang="en-US" sz="2400" dirty="0">
                <a:solidFill>
                  <a:srgbClr val="16191F"/>
                </a:solidFill>
                <a:latin typeface="Amazon Ember" panose="020B0603020204020204"/>
              </a:rPr>
              <a:t>A </a:t>
            </a:r>
            <a:r>
              <a:rPr lang="en-US" sz="2400" dirty="0">
                <a:solidFill>
                  <a:srgbClr val="16191F"/>
                </a:solidFill>
                <a:latin typeface="Amazon Ember" panose="020B0603020204020204"/>
                <a:hlinkClick r:id="rId2">
                  <a:extLst>
                    <a:ext uri="{A12FA001-AC4F-418D-AE19-62706E023703}">
                      <ahyp:hlinkClr xmlns:ahyp="http://schemas.microsoft.com/office/drawing/2018/hyperlinkcolor" val="tx"/>
                    </a:ext>
                  </a:extLst>
                </a:hlinkClick>
              </a:rPr>
              <a:t>subnet</a:t>
            </a:r>
            <a:r>
              <a:rPr lang="en-US" sz="2400" dirty="0">
                <a:solidFill>
                  <a:srgbClr val="16191F"/>
                </a:solidFill>
                <a:latin typeface="Amazon Ember" panose="020B0603020204020204"/>
              </a:rPr>
              <a:t> is a range of IP addresses in your VPC. A subnet must reside in a single Availability Zone. After you add subnets, you can deploy AWS resources in your VPC.</a:t>
            </a:r>
          </a:p>
        </p:txBody>
      </p:sp>
    </p:spTree>
    <p:extLst>
      <p:ext uri="{BB962C8B-B14F-4D97-AF65-F5344CB8AC3E}">
        <p14:creationId xmlns:p14="http://schemas.microsoft.com/office/powerpoint/2010/main" val="135903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55" name="Group 2054">
            <a:extLst>
              <a:ext uri="{FF2B5EF4-FFF2-40B4-BE49-F238E27FC236}">
                <a16:creationId xmlns:a16="http://schemas.microsoft.com/office/drawing/2014/main" id="{0565C35A-C6FA-4269-822E-6DB5B9C488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056" name="Straight Connector 2055">
              <a:extLst>
                <a:ext uri="{FF2B5EF4-FFF2-40B4-BE49-F238E27FC236}">
                  <a16:creationId xmlns:a16="http://schemas.microsoft.com/office/drawing/2014/main" id="{F8BBEF76-F066-4551-8A87-AAFD9969E52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057" name="Straight Connector 2056">
              <a:extLst>
                <a:ext uri="{FF2B5EF4-FFF2-40B4-BE49-F238E27FC236}">
                  <a16:creationId xmlns:a16="http://schemas.microsoft.com/office/drawing/2014/main" id="{97E701E2-9884-4313-A922-224D075A7C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058" name="Rectangle 23">
              <a:extLst>
                <a:ext uri="{FF2B5EF4-FFF2-40B4-BE49-F238E27FC236}">
                  <a16:creationId xmlns:a16="http://schemas.microsoft.com/office/drawing/2014/main" id="{32C9DF5B-371A-4170-9F46-B6EE7EF02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59" name="Rectangle 25">
              <a:extLst>
                <a:ext uri="{FF2B5EF4-FFF2-40B4-BE49-F238E27FC236}">
                  <a16:creationId xmlns:a16="http://schemas.microsoft.com/office/drawing/2014/main" id="{00EAEF78-4C36-4EC9-855A-C27427C36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0" name="Isosceles Triangle 2059">
              <a:extLst>
                <a:ext uri="{FF2B5EF4-FFF2-40B4-BE49-F238E27FC236}">
                  <a16:creationId xmlns:a16="http://schemas.microsoft.com/office/drawing/2014/main" id="{5E397A22-38A0-4816-926B-740F8E189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1" name="Rectangle 27">
              <a:extLst>
                <a:ext uri="{FF2B5EF4-FFF2-40B4-BE49-F238E27FC236}">
                  <a16:creationId xmlns:a16="http://schemas.microsoft.com/office/drawing/2014/main" id="{A4756C8A-87DB-494D-999F-E6C0EB0BD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2" name="Rectangle 28">
              <a:extLst>
                <a:ext uri="{FF2B5EF4-FFF2-40B4-BE49-F238E27FC236}">
                  <a16:creationId xmlns:a16="http://schemas.microsoft.com/office/drawing/2014/main" id="{FB60A164-1613-43A9-A23E-870E89DD90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3" name="Rectangle 29">
              <a:extLst>
                <a:ext uri="{FF2B5EF4-FFF2-40B4-BE49-F238E27FC236}">
                  <a16:creationId xmlns:a16="http://schemas.microsoft.com/office/drawing/2014/main" id="{CA0CF5DE-8A99-4138-A0F0-C84DA0C73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4" name="Isosceles Triangle 2063">
              <a:extLst>
                <a:ext uri="{FF2B5EF4-FFF2-40B4-BE49-F238E27FC236}">
                  <a16:creationId xmlns:a16="http://schemas.microsoft.com/office/drawing/2014/main" id="{B41D911B-1F2A-43C3-BDE4-77A1F3D85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65" name="Isosceles Triangle 2064">
              <a:extLst>
                <a:ext uri="{FF2B5EF4-FFF2-40B4-BE49-F238E27FC236}">
                  <a16:creationId xmlns:a16="http://schemas.microsoft.com/office/drawing/2014/main" id="{A429A86E-CFC2-4521-9A58-DF4BF96D95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useBgFill="1">
        <p:nvSpPr>
          <p:cNvPr id="2067" name="Rectangle 2066">
            <a:extLst>
              <a:ext uri="{FF2B5EF4-FFF2-40B4-BE49-F238E27FC236}">
                <a16:creationId xmlns:a16="http://schemas.microsoft.com/office/drawing/2014/main" id="{21029ED5-F105-4DD2-99C8-1E4422817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69" name="Group 2068">
            <a:extLst>
              <a:ext uri="{FF2B5EF4-FFF2-40B4-BE49-F238E27FC236}">
                <a16:creationId xmlns:a16="http://schemas.microsoft.com/office/drawing/2014/main" id="{2D621E68-BF28-4A1C-B1A2-4E55E139E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2070" name="Straight Connector 2069">
              <a:extLst>
                <a:ext uri="{FF2B5EF4-FFF2-40B4-BE49-F238E27FC236}">
                  <a16:creationId xmlns:a16="http://schemas.microsoft.com/office/drawing/2014/main" id="{BE8BBE4D-F0DF-49B9-B75A-99DAC53ACA7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071" name="Rectangle 23">
              <a:extLst>
                <a:ext uri="{FF2B5EF4-FFF2-40B4-BE49-F238E27FC236}">
                  <a16:creationId xmlns:a16="http://schemas.microsoft.com/office/drawing/2014/main" id="{E0F07DDC-34A6-46A1-9DE9-2BBE2931A5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2" name="Rectangle 25">
              <a:extLst>
                <a:ext uri="{FF2B5EF4-FFF2-40B4-BE49-F238E27FC236}">
                  <a16:creationId xmlns:a16="http://schemas.microsoft.com/office/drawing/2014/main" id="{2CEB2BF9-B8DB-45B9-86EA-D197B5B1AE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3" name="Isosceles Triangle 2072">
              <a:extLst>
                <a:ext uri="{FF2B5EF4-FFF2-40B4-BE49-F238E27FC236}">
                  <a16:creationId xmlns:a16="http://schemas.microsoft.com/office/drawing/2014/main" id="{08B5BB34-3801-4E70-A981-FE007635E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4" name="Rectangle 27">
              <a:extLst>
                <a:ext uri="{FF2B5EF4-FFF2-40B4-BE49-F238E27FC236}">
                  <a16:creationId xmlns:a16="http://schemas.microsoft.com/office/drawing/2014/main" id="{38432A75-2CEB-463C-A8F2-ABB50A79F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5" name="Rectangle 28">
              <a:extLst>
                <a:ext uri="{FF2B5EF4-FFF2-40B4-BE49-F238E27FC236}">
                  <a16:creationId xmlns:a16="http://schemas.microsoft.com/office/drawing/2014/main" id="{E7E850B8-C050-4597-8BEB-113FEC9A27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6" name="Rectangle 29">
              <a:extLst>
                <a:ext uri="{FF2B5EF4-FFF2-40B4-BE49-F238E27FC236}">
                  <a16:creationId xmlns:a16="http://schemas.microsoft.com/office/drawing/2014/main" id="{24ACC798-9CEC-4B6F-A8DD-F8E6FCCCF1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7" name="Isosceles Triangle 2076">
              <a:extLst>
                <a:ext uri="{FF2B5EF4-FFF2-40B4-BE49-F238E27FC236}">
                  <a16:creationId xmlns:a16="http://schemas.microsoft.com/office/drawing/2014/main" id="{1D58A8C6-1294-4CD9-89BC-F1E981A5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78" name="Isosceles Triangle 2077">
              <a:extLst>
                <a:ext uri="{FF2B5EF4-FFF2-40B4-BE49-F238E27FC236}">
                  <a16:creationId xmlns:a16="http://schemas.microsoft.com/office/drawing/2014/main" id="{F32F2ED6-6143-46C4-A641-72D42732B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080" name="Rectangle 2079">
            <a:extLst>
              <a:ext uri="{FF2B5EF4-FFF2-40B4-BE49-F238E27FC236}">
                <a16:creationId xmlns:a16="http://schemas.microsoft.com/office/drawing/2014/main" id="{5C9652B3-A450-4ED6-8FBF-F536BA60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420633B8-D699-F3F6-F8E0-FB06AAFBF4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008" r="1" b="1"/>
          <a:stretch/>
        </p:blipFill>
        <p:spPr bwMode="auto">
          <a:xfrm>
            <a:off x="568452" y="571500"/>
            <a:ext cx="11055096"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852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58" name="Group 1057">
            <a:extLst>
              <a:ext uri="{FF2B5EF4-FFF2-40B4-BE49-F238E27FC236}">
                <a16:creationId xmlns:a16="http://schemas.microsoft.com/office/drawing/2014/main" id="{609316A9-990D-4EC3-A671-70EE5C1493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32" name="Straight Connector 1031">
              <a:extLst>
                <a:ext uri="{FF2B5EF4-FFF2-40B4-BE49-F238E27FC236}">
                  <a16:creationId xmlns:a16="http://schemas.microsoft.com/office/drawing/2014/main" id="{9B0C6109-9159-49CA-AD7A-F9035539DB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3" name="Straight Connector 1032">
              <a:extLst>
                <a:ext uri="{FF2B5EF4-FFF2-40B4-BE49-F238E27FC236}">
                  <a16:creationId xmlns:a16="http://schemas.microsoft.com/office/drawing/2014/main" id="{686F14F5-308C-4EB6-87AB-05DE9501B1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59" name="Rectangle 23">
              <a:extLst>
                <a:ext uri="{FF2B5EF4-FFF2-40B4-BE49-F238E27FC236}">
                  <a16:creationId xmlns:a16="http://schemas.microsoft.com/office/drawing/2014/main" id="{BA032363-A188-47C5-9D59-9B788809DC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0" name="Rectangle 25">
              <a:extLst>
                <a:ext uri="{FF2B5EF4-FFF2-40B4-BE49-F238E27FC236}">
                  <a16:creationId xmlns:a16="http://schemas.microsoft.com/office/drawing/2014/main" id="{2C4077DF-6BB9-4069-AD28-6B1664EBB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1" name="Isosceles Triangle 1060">
              <a:extLst>
                <a:ext uri="{FF2B5EF4-FFF2-40B4-BE49-F238E27FC236}">
                  <a16:creationId xmlns:a16="http://schemas.microsoft.com/office/drawing/2014/main" id="{1D2B8B50-3419-41ED-9A9F-3CF9EEB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2" name="Rectangle 27">
              <a:extLst>
                <a:ext uri="{FF2B5EF4-FFF2-40B4-BE49-F238E27FC236}">
                  <a16:creationId xmlns:a16="http://schemas.microsoft.com/office/drawing/2014/main" id="{5C640498-2E73-4FA2-BEB6-C3596A458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3" name="Rectangle 28">
              <a:extLst>
                <a:ext uri="{FF2B5EF4-FFF2-40B4-BE49-F238E27FC236}">
                  <a16:creationId xmlns:a16="http://schemas.microsoft.com/office/drawing/2014/main" id="{3240EEFC-4112-4C39-A816-C815774F6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4" name="Rectangle 29">
              <a:extLst>
                <a:ext uri="{FF2B5EF4-FFF2-40B4-BE49-F238E27FC236}">
                  <a16:creationId xmlns:a16="http://schemas.microsoft.com/office/drawing/2014/main" id="{ADF362B0-03EA-4800-9FAA-9F128587E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5" name="Isosceles Triangle 1064">
              <a:extLst>
                <a:ext uri="{FF2B5EF4-FFF2-40B4-BE49-F238E27FC236}">
                  <a16:creationId xmlns:a16="http://schemas.microsoft.com/office/drawing/2014/main" id="{0BA84559-2F4C-4795-9246-4C563F942D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6" name="Isosceles Triangle 1065">
              <a:extLst>
                <a:ext uri="{FF2B5EF4-FFF2-40B4-BE49-F238E27FC236}">
                  <a16:creationId xmlns:a16="http://schemas.microsoft.com/office/drawing/2014/main" id="{FA77A1AA-CA47-4A91-A0A1-0A8CE31A9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1067" name="Rectangle 1066">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68" name="Group 1067">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46" name="Straight Connector 1045">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69"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0"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1" name="Isosceles Triangle 1070">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2"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3"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4"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5" name="Isosceles Triangle 1074">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6" name="Isosceles Triangle 1075">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1077" name="Rectangle 1076">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10;   A VPC with an internet gateway and subnets in three Availability Zones.&#10;  ">
            <a:extLst>
              <a:ext uri="{FF2B5EF4-FFF2-40B4-BE49-F238E27FC236}">
                <a16:creationId xmlns:a16="http://schemas.microsoft.com/office/drawing/2014/main" id="{D290F627-DA3D-A23D-60D8-64D02789BC1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51937" y="1131994"/>
            <a:ext cx="7690003" cy="4590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9887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Any Questions Stock Illustrations – 808 Any Questions Stock Illustrations,  Vectors &amp; Clipart - Dreamstime">
            <a:extLst>
              <a:ext uri="{FF2B5EF4-FFF2-40B4-BE49-F238E27FC236}">
                <a16:creationId xmlns:a16="http://schemas.microsoft.com/office/drawing/2014/main" id="{20B78AFE-9A1B-FEF1-435E-0E921C4CC1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374" y="973476"/>
            <a:ext cx="4911047" cy="4911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759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Thank You Images – Browse 245,757 Stock Photos, Vectors, and Video | Adobe  Stock">
            <a:extLst>
              <a:ext uri="{FF2B5EF4-FFF2-40B4-BE49-F238E27FC236}">
                <a16:creationId xmlns:a16="http://schemas.microsoft.com/office/drawing/2014/main" id="{618EC067-5DD9-5B3F-7153-51B8AB450D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8376" y="1714500"/>
            <a:ext cx="6086475" cy="3429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246E831-FEC2-80D3-CF68-6894F804EDD9}"/>
              </a:ext>
            </a:extLst>
          </p:cNvPr>
          <p:cNvSpPr txBox="1"/>
          <p:nvPr/>
        </p:nvSpPr>
        <p:spPr>
          <a:xfrm>
            <a:off x="3583968" y="5517222"/>
            <a:ext cx="5024063" cy="923330"/>
          </a:xfrm>
          <a:prstGeom prst="rect">
            <a:avLst/>
          </a:prstGeom>
          <a:noFill/>
        </p:spPr>
        <p:txBody>
          <a:bodyPr wrap="square" rtlCol="0">
            <a:spAutoFit/>
          </a:bodyPr>
          <a:lstStyle/>
          <a:p>
            <a:r>
              <a:rPr lang="en-US" b="1" dirty="0"/>
              <a:t>Contact Me: </a:t>
            </a:r>
          </a:p>
          <a:p>
            <a:r>
              <a:rPr lang="en-US" dirty="0"/>
              <a:t>Mobile: +91 9096092301</a:t>
            </a:r>
          </a:p>
          <a:p>
            <a:r>
              <a:rPr lang="en-US" dirty="0"/>
              <a:t>Email: trainer.niranjan30@gmail.com</a:t>
            </a:r>
          </a:p>
        </p:txBody>
      </p:sp>
    </p:spTree>
    <p:extLst>
      <p:ext uri="{BB962C8B-B14F-4D97-AF65-F5344CB8AC3E}">
        <p14:creationId xmlns:p14="http://schemas.microsoft.com/office/powerpoint/2010/main" val="34974356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d258917-277f-42cd-a3cd-14c4e9ee58bc}" enabled="1" method="Standar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emplate>Facet</Template>
  <TotalTime>6028</TotalTime>
  <Words>3825</Words>
  <Application>Microsoft Office PowerPoint</Application>
  <PresentationFormat>Widescreen</PresentationFormat>
  <Paragraphs>204</Paragraphs>
  <Slides>24</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Amazon Ember</vt:lpstr>
      <vt:lpstr>Arial</vt:lpstr>
      <vt:lpstr>Calibri</vt:lpstr>
      <vt:lpstr>Nunito Sans</vt:lpstr>
      <vt:lpstr>sohne</vt:lpstr>
      <vt:lpstr>source-serif-pro</vt:lpstr>
      <vt:lpstr>Trebuchet MS</vt:lpstr>
      <vt:lpstr>Wingdings</vt:lpstr>
      <vt:lpstr>Wingdings 3</vt:lpstr>
      <vt:lpstr>Facet</vt:lpstr>
      <vt:lpstr>Welcome !</vt:lpstr>
      <vt:lpstr>Course : DevOps with cloud computing (AWS) Cloud computing and AWS</vt:lpstr>
      <vt:lpstr>Agenda</vt:lpstr>
      <vt:lpstr>What is AWS ?</vt:lpstr>
      <vt:lpstr>What is Cloud-computing ?</vt:lpstr>
      <vt:lpstr>Why Cloud-computing ?</vt:lpstr>
      <vt:lpstr>Before Cloud Computing </vt:lpstr>
      <vt:lpstr>Cloud Computing</vt:lpstr>
      <vt:lpstr>Cloud Computing</vt:lpstr>
      <vt:lpstr>Cloud Computing</vt:lpstr>
      <vt:lpstr>Cloud Deployment Models</vt:lpstr>
      <vt:lpstr>PowerPoint Presentation</vt:lpstr>
      <vt:lpstr>Cloud Service Models</vt:lpstr>
      <vt:lpstr>IaaS - Infrastructure as a Service</vt:lpstr>
      <vt:lpstr>PaaS - Platform as a Service</vt:lpstr>
      <vt:lpstr>SaaS - Software as a Service</vt:lpstr>
      <vt:lpstr>PowerPoint Presentation</vt:lpstr>
      <vt:lpstr>AWS Global Infrastructure</vt:lpstr>
      <vt:lpstr>PowerPoint Presentation</vt:lpstr>
      <vt:lpstr>AWS Networking – VPC and Subnets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Demo Class – Getting Started with DevOps</dc:title>
  <dc:creator>Dive, Niranjan (ADV D IN MO INFRA DOC)</dc:creator>
  <cp:lastModifiedBy>Dive, Niranjan (ADV D IN MO INFRA DOC)</cp:lastModifiedBy>
  <cp:revision>47</cp:revision>
  <dcterms:created xsi:type="dcterms:W3CDTF">2023-10-13T02:38:05Z</dcterms:created>
  <dcterms:modified xsi:type="dcterms:W3CDTF">2024-02-05T04:57:22Z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d258917-277f-42cd-a3cd-14c4e9ee58bc_Enabled">
    <vt:lpwstr>true</vt:lpwstr>
  </property>
  <property fmtid="{D5CDD505-2E9C-101B-9397-08002B2CF9AE}" pid="3" name="MSIP_Label_9d258917-277f-42cd-a3cd-14c4e9ee58bc_SetDate">
    <vt:lpwstr>2023-10-13T03:11:34Z</vt:lpwstr>
  </property>
  <property fmtid="{D5CDD505-2E9C-101B-9397-08002B2CF9AE}" pid="4" name="MSIP_Label_9d258917-277f-42cd-a3cd-14c4e9ee58bc_Method">
    <vt:lpwstr>Standard</vt:lpwstr>
  </property>
  <property fmtid="{D5CDD505-2E9C-101B-9397-08002B2CF9AE}" pid="5" name="MSIP_Label_9d258917-277f-42cd-a3cd-14c4e9ee58bc_Name">
    <vt:lpwstr>restricted</vt:lpwstr>
  </property>
  <property fmtid="{D5CDD505-2E9C-101B-9397-08002B2CF9AE}" pid="6" name="MSIP_Label_9d258917-277f-42cd-a3cd-14c4e9ee58bc_SiteId">
    <vt:lpwstr>38ae3bcd-9579-4fd4-adda-b42e1495d55a</vt:lpwstr>
  </property>
  <property fmtid="{D5CDD505-2E9C-101B-9397-08002B2CF9AE}" pid="7" name="MSIP_Label_9d258917-277f-42cd-a3cd-14c4e9ee58bc_ActionId">
    <vt:lpwstr>9f076368-b295-4767-a73c-080815a14bb1</vt:lpwstr>
  </property>
  <property fmtid="{D5CDD505-2E9C-101B-9397-08002B2CF9AE}" pid="8" name="MSIP_Label_9d258917-277f-42cd-a3cd-14c4e9ee58bc_ContentBits">
    <vt:lpwstr>0</vt:lpwstr>
  </property>
</Properties>
</file>